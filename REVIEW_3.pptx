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38225" y="278103"/>
            <a:ext cx="194119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902970"/>
            <a:ext cx="10668000" cy="0"/>
          </a:xfrm>
          <a:custGeom>
            <a:avLst/>
            <a:gdLst/>
            <a:ahLst/>
            <a:cxnLst/>
            <a:rect l="l" t="t" r="r" b="b"/>
            <a:pathLst>
              <a:path w="10668000" h="0">
                <a:moveTo>
                  <a:pt x="0" y="0"/>
                </a:moveTo>
                <a:lnTo>
                  <a:pt x="10667999" y="0"/>
                </a:lnTo>
              </a:path>
            </a:pathLst>
          </a:custGeom>
          <a:ln w="3429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12800" y="937260"/>
            <a:ext cx="10668000" cy="0"/>
          </a:xfrm>
          <a:custGeom>
            <a:avLst/>
            <a:gdLst/>
            <a:ahLst/>
            <a:cxnLst/>
            <a:rect l="l" t="t" r="r" b="b"/>
            <a:pathLst>
              <a:path w="10668000" h="0">
                <a:moveTo>
                  <a:pt x="0" y="0"/>
                </a:moveTo>
                <a:lnTo>
                  <a:pt x="10667999" y="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1366"/>
            <a:ext cx="12192000" cy="86663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1690" y="247777"/>
            <a:ext cx="652081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5825" y="1123696"/>
            <a:ext cx="10494010" cy="415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google.com/url?q=https%3A//github.com/poojesh-7/Oils_Seeds_Patform&amp;sa=D&amp;source=editors&amp;ust=1772619641742145&amp;usg=AOvVaw39vuXSPeqZlyPGE8PRqJHP" TargetMode="Externa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oogle.com/url?q=https%3A//www.fao.org/faostat/&amp;sa=D&amp;source=editors&amp;ust=1772619641799731&amp;usg=AOvVaw2b0nKbg1sppPBJ_qqQGegD" TargetMode="External"/><Relationship Id="rId3" Type="http://schemas.openxmlformats.org/officeDocument/2006/relationships/hyperlink" Target="https://www.google.com/url?q=https%3A//www.worldbank.org/en/topic/agriculture&amp;sa=D&amp;source=editors&amp;ust=1772619641799876&amp;usg=AOvVaw1Ignl05jClW38_Sc4K6TXm" TargetMode="External"/><Relationship Id="rId4" Type="http://schemas.openxmlformats.org/officeDocument/2006/relationships/hyperlink" Target="https://www.google.com/url?q=https%3A//www.enam.gov.in/&amp;sa=D&amp;source=editors&amp;ust=1772619641799938&amp;usg=AOvVaw09rq-3WSdvX-kEVOWSL4sw" TargetMode="External"/><Relationship Id="rId5" Type="http://schemas.openxmlformats.org/officeDocument/2006/relationships/hyperlink" Target="https://www.google.com/url?q=https%3A//agmarknet.gov.in/&amp;sa=D&amp;source=editors&amp;ust=1772619641799984&amp;usg=AOvVaw3HCWIVM-dTKmC349djuTNI" TargetMode="External"/><Relationship Id="rId6" Type="http://schemas.openxmlformats.org/officeDocument/2006/relationships/hyperlink" Target="https://www.google.com/url?q=https%3A//www.ncdex.com/&amp;sa=D&amp;source=editors&amp;ust=1772619641800031&amp;usg=AOvVaw00lLWmTe-mPtbQipBo_VXx" TargetMode="External"/><Relationship Id="rId7" Type="http://schemas.openxmlformats.org/officeDocument/2006/relationships/hyperlink" Target="https://www.google.com/url?q=https%3A//data.gov.in/&amp;sa=D&amp;source=editors&amp;ust=1772619641800081&amp;usg=AOvVaw1AN8VaHJlfvWpaWCDDYaPH" TargetMode="Externa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23297" y="1359086"/>
            <a:ext cx="7093584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0">
                <a:solidFill>
                  <a:srgbClr val="000000"/>
                </a:solidFill>
                <a:latin typeface="Cambria"/>
                <a:cs typeface="Cambria"/>
              </a:rPr>
              <a:t>Value</a:t>
            </a:r>
            <a:r>
              <a:rPr dirty="0" sz="2200" spc="-5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2200">
                <a:solidFill>
                  <a:srgbClr val="000000"/>
                </a:solidFill>
                <a:latin typeface="Cambria"/>
                <a:cs typeface="Cambria"/>
              </a:rPr>
              <a:t>Chain</a:t>
            </a:r>
            <a:r>
              <a:rPr dirty="0" sz="2200" spc="-5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2200">
                <a:solidFill>
                  <a:srgbClr val="000000"/>
                </a:solidFill>
                <a:latin typeface="Cambria"/>
                <a:cs typeface="Cambria"/>
              </a:rPr>
              <a:t>Integration</a:t>
            </a:r>
            <a:r>
              <a:rPr dirty="0" sz="2200" spc="-5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2200" spc="-10">
                <a:solidFill>
                  <a:srgbClr val="000000"/>
                </a:solidFill>
                <a:latin typeface="Cambria"/>
                <a:cs typeface="Cambria"/>
              </a:rPr>
              <a:t>System</a:t>
            </a:r>
            <a:r>
              <a:rPr dirty="0" sz="2200" spc="-5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2200">
                <a:solidFill>
                  <a:srgbClr val="000000"/>
                </a:solidFill>
                <a:latin typeface="Cambria"/>
                <a:cs typeface="Cambria"/>
              </a:rPr>
              <a:t>for</a:t>
            </a:r>
            <a:r>
              <a:rPr dirty="0" sz="2200" spc="-5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2200">
                <a:solidFill>
                  <a:srgbClr val="000000"/>
                </a:solidFill>
                <a:latin typeface="Cambria"/>
                <a:cs typeface="Cambria"/>
              </a:rPr>
              <a:t>Oilseed</a:t>
            </a:r>
            <a:r>
              <a:rPr dirty="0" sz="2200" spc="-5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2200" spc="-35">
                <a:solidFill>
                  <a:srgbClr val="000000"/>
                </a:solidFill>
                <a:latin typeface="Cambria"/>
                <a:cs typeface="Cambria"/>
              </a:rPr>
              <a:t>By-</a:t>
            </a:r>
            <a:r>
              <a:rPr dirty="0" sz="2200" spc="-10">
                <a:solidFill>
                  <a:srgbClr val="000000"/>
                </a:solidFill>
                <a:latin typeface="Cambria"/>
                <a:cs typeface="Cambria"/>
              </a:rPr>
              <a:t>Products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3493" y="2117033"/>
            <a:ext cx="2454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7365D"/>
                </a:solidFill>
                <a:latin typeface="Cambria"/>
                <a:cs typeface="Cambria"/>
              </a:rPr>
              <a:t>Batch</a:t>
            </a:r>
            <a:r>
              <a:rPr dirty="0" sz="1800" spc="-4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7365D"/>
                </a:solidFill>
                <a:latin typeface="Cambria"/>
                <a:cs typeface="Cambria"/>
              </a:rPr>
              <a:t>Number:</a:t>
            </a:r>
            <a:r>
              <a:rPr dirty="0" sz="1800" spc="31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17365D"/>
                </a:solidFill>
                <a:latin typeface="Cambria"/>
                <a:cs typeface="Cambria"/>
              </a:rPr>
              <a:t>CSD_25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94066" y="2485704"/>
            <a:ext cx="26835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7365D"/>
                </a:solidFill>
                <a:latin typeface="Cambria"/>
                <a:cs typeface="Cambria"/>
              </a:rPr>
              <a:t>Under</a:t>
            </a:r>
            <a:r>
              <a:rPr dirty="0" sz="1800" spc="-4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7365D"/>
                </a:solidFill>
                <a:latin typeface="Cambria"/>
                <a:cs typeface="Cambria"/>
              </a:rPr>
              <a:t>the</a:t>
            </a:r>
            <a:r>
              <a:rPr dirty="0" sz="1800" spc="-4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7365D"/>
                </a:solidFill>
                <a:latin typeface="Cambria"/>
                <a:cs typeface="Cambria"/>
              </a:rPr>
              <a:t>Supervision</a:t>
            </a:r>
            <a:r>
              <a:rPr dirty="0" sz="1800" spc="-4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spc="-25" b="1">
                <a:solidFill>
                  <a:srgbClr val="17365D"/>
                </a:solidFill>
                <a:latin typeface="Cambria"/>
                <a:cs typeface="Cambria"/>
              </a:rPr>
              <a:t>of,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56346" y="3045927"/>
            <a:ext cx="2961005" cy="1036319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algn="ctr" marL="523875" marR="515620">
              <a:lnSpc>
                <a:spcPts val="1970"/>
              </a:lnSpc>
              <a:spcBef>
                <a:spcPts val="225"/>
              </a:spcBef>
            </a:pPr>
            <a:r>
              <a:rPr dirty="0" sz="1700" spc="-65" b="1">
                <a:solidFill>
                  <a:srgbClr val="17365D"/>
                </a:solidFill>
                <a:latin typeface="Cambria"/>
                <a:cs typeface="Cambria"/>
              </a:rPr>
              <a:t>Dr.</a:t>
            </a:r>
            <a:r>
              <a:rPr dirty="0" sz="1700" spc="-3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Roja</a:t>
            </a:r>
            <a:r>
              <a:rPr dirty="0" sz="1700" spc="-3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B</a:t>
            </a:r>
            <a:r>
              <a:rPr dirty="0" sz="1700" spc="-3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spc="-50" b="1">
                <a:solidFill>
                  <a:srgbClr val="17365D"/>
                </a:solidFill>
                <a:latin typeface="Cambria"/>
                <a:cs typeface="Cambria"/>
              </a:rPr>
              <a:t>A </a:t>
            </a:r>
            <a:r>
              <a:rPr dirty="0" sz="1700" spc="-10" b="1">
                <a:solidFill>
                  <a:srgbClr val="17365D"/>
                </a:solidFill>
                <a:latin typeface="Cambria"/>
                <a:cs typeface="Cambria"/>
              </a:rPr>
              <a:t>Assistant</a:t>
            </a:r>
            <a:r>
              <a:rPr dirty="0" sz="1700" spc="-3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spc="-10" b="1">
                <a:solidFill>
                  <a:srgbClr val="17365D"/>
                </a:solidFill>
                <a:latin typeface="Cambria"/>
                <a:cs typeface="Cambria"/>
              </a:rPr>
              <a:t>Professor</a:t>
            </a:r>
            <a:endParaRPr sz="1700">
              <a:latin typeface="Cambria"/>
              <a:cs typeface="Cambria"/>
            </a:endParaRPr>
          </a:p>
          <a:p>
            <a:pPr algn="ctr" marL="12700" marR="5080">
              <a:lnSpc>
                <a:spcPts val="1970"/>
              </a:lnSpc>
            </a:pP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School</a:t>
            </a:r>
            <a:r>
              <a:rPr dirty="0" sz="1700" spc="-3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of</a:t>
            </a:r>
            <a:r>
              <a:rPr dirty="0" sz="1700" spc="-3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Information</a:t>
            </a:r>
            <a:r>
              <a:rPr dirty="0" sz="1700" spc="-3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spc="-10" b="1">
                <a:solidFill>
                  <a:srgbClr val="17365D"/>
                </a:solidFill>
                <a:latin typeface="Cambria"/>
                <a:cs typeface="Cambria"/>
              </a:rPr>
              <a:t>Science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Presidency</a:t>
            </a:r>
            <a:r>
              <a:rPr dirty="0" sz="1700" spc="-7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spc="-10" b="1">
                <a:solidFill>
                  <a:srgbClr val="17365D"/>
                </a:solidFill>
                <a:latin typeface="Cambria"/>
                <a:cs typeface="Cambria"/>
              </a:rPr>
              <a:t>University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426" y="2654281"/>
            <a:ext cx="1804035" cy="148844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dirty="0" sz="1800" spc="100" b="1">
                <a:solidFill>
                  <a:srgbClr val="17365D"/>
                </a:solidFill>
                <a:latin typeface="Cambria"/>
                <a:cs typeface="Cambria"/>
              </a:rPr>
              <a:t>Roll</a:t>
            </a:r>
            <a:r>
              <a:rPr dirty="0" sz="1800" spc="229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spc="60" b="1">
                <a:solidFill>
                  <a:srgbClr val="17365D"/>
                </a:solidFill>
                <a:latin typeface="Cambria"/>
                <a:cs typeface="Cambria"/>
              </a:rPr>
              <a:t>Number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800" spc="135">
                <a:latin typeface="Cambria"/>
                <a:cs typeface="Cambria"/>
              </a:rPr>
              <a:t>20221CSD0140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800" spc="135">
                <a:latin typeface="Cambria"/>
                <a:cs typeface="Cambria"/>
              </a:rPr>
              <a:t>20221CSD0126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800" spc="135">
                <a:latin typeface="Cambria"/>
                <a:cs typeface="Cambria"/>
              </a:rPr>
              <a:t>20231CSD3003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9453" y="2654281"/>
            <a:ext cx="171132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6055" marR="5080" indent="-173990">
              <a:lnSpc>
                <a:spcPct val="133300"/>
              </a:lnSpc>
              <a:spcBef>
                <a:spcPts val="100"/>
              </a:spcBef>
            </a:pPr>
            <a:r>
              <a:rPr dirty="0" sz="1800" spc="130" b="1">
                <a:solidFill>
                  <a:srgbClr val="17365D"/>
                </a:solidFill>
                <a:latin typeface="Cambria"/>
                <a:cs typeface="Cambria"/>
              </a:rPr>
              <a:t>Student</a:t>
            </a:r>
            <a:r>
              <a:rPr dirty="0" sz="1800" spc="24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spc="90" b="1">
                <a:solidFill>
                  <a:srgbClr val="17365D"/>
                </a:solidFill>
                <a:latin typeface="Cambria"/>
                <a:cs typeface="Cambria"/>
              </a:rPr>
              <a:t>Name </a:t>
            </a:r>
            <a:r>
              <a:rPr dirty="0" sz="1800" spc="90">
                <a:latin typeface="Cambria"/>
                <a:cs typeface="Cambria"/>
              </a:rPr>
              <a:t>Poojesh</a:t>
            </a:r>
            <a:r>
              <a:rPr dirty="0" sz="1800" spc="175">
                <a:latin typeface="Cambria"/>
                <a:cs typeface="Cambria"/>
              </a:rPr>
              <a:t> </a:t>
            </a:r>
            <a:r>
              <a:rPr dirty="0" sz="1800" spc="145">
                <a:latin typeface="Cambria"/>
                <a:cs typeface="Cambria"/>
              </a:rPr>
              <a:t>K</a:t>
            </a:r>
            <a:r>
              <a:rPr dirty="0" sz="1800" spc="180">
                <a:latin typeface="Cambria"/>
                <a:cs typeface="Cambria"/>
              </a:rPr>
              <a:t> </a:t>
            </a:r>
            <a:r>
              <a:rPr dirty="0" sz="1800" spc="240">
                <a:latin typeface="Cambria"/>
                <a:cs typeface="Cambria"/>
              </a:rPr>
              <a:t>S </a:t>
            </a:r>
            <a:r>
              <a:rPr dirty="0" sz="1800" spc="75">
                <a:latin typeface="Cambria"/>
                <a:cs typeface="Cambria"/>
              </a:rPr>
              <a:t>Vishwajeet </a:t>
            </a:r>
            <a:r>
              <a:rPr dirty="0" sz="1800" spc="120">
                <a:latin typeface="Cambria"/>
                <a:cs typeface="Cambria"/>
              </a:rPr>
              <a:t>Puneeth</a:t>
            </a:r>
            <a:r>
              <a:rPr dirty="0" sz="1800" spc="195">
                <a:latin typeface="Cambria"/>
                <a:cs typeface="Cambria"/>
              </a:rPr>
              <a:t> </a:t>
            </a:r>
            <a:r>
              <a:rPr dirty="0" sz="1800" spc="130">
                <a:latin typeface="Cambria"/>
                <a:cs typeface="Cambria"/>
              </a:rPr>
              <a:t>M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4812" y="152696"/>
            <a:ext cx="993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 b="1">
                <a:solidFill>
                  <a:srgbClr val="17365D"/>
                </a:solidFill>
                <a:latin typeface="Cambria"/>
                <a:cs typeface="Cambria"/>
              </a:rPr>
              <a:t>Review-</a:t>
            </a:r>
            <a:r>
              <a:rPr dirty="0" sz="1800" spc="-50" b="1">
                <a:solidFill>
                  <a:srgbClr val="17365D"/>
                </a:solidFill>
                <a:latin typeface="Cambria"/>
                <a:cs typeface="Cambria"/>
              </a:rPr>
              <a:t>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025" y="4550155"/>
            <a:ext cx="864616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dirty="0" sz="1800" spc="-55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dirty="0" sz="1800" spc="-55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dirty="0" sz="1800" spc="-50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D"/>
                </a:solidFill>
                <a:latin typeface="Cambria"/>
                <a:cs typeface="Cambria"/>
              </a:rPr>
              <a:t>Program:</a:t>
            </a:r>
            <a:r>
              <a:rPr dirty="0" sz="1800" spc="-35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B.Tech</a:t>
            </a:r>
            <a:r>
              <a:rPr dirty="0" sz="1800" spc="300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(Computer</a:t>
            </a:r>
            <a:r>
              <a:rPr dirty="0" sz="1800" spc="-5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Science</a:t>
            </a:r>
            <a:r>
              <a:rPr dirty="0" sz="1800" spc="-5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and</a:t>
            </a:r>
            <a:r>
              <a:rPr dirty="0" sz="1800" spc="-50" b="1">
                <a:latin typeface="Cambria"/>
                <a:cs typeface="Cambria"/>
              </a:rPr>
              <a:t> </a:t>
            </a:r>
            <a:r>
              <a:rPr dirty="0" sz="1800" spc="-35" b="1">
                <a:latin typeface="Cambria"/>
                <a:cs typeface="Cambria"/>
              </a:rPr>
              <a:t>Engineering{DATA</a:t>
            </a:r>
            <a:r>
              <a:rPr dirty="0" sz="1800" spc="-55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SCIENCE}) </a:t>
            </a:r>
            <a:r>
              <a:rPr dirty="0" sz="1800" b="1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dirty="0" sz="1800" spc="-40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dirty="0" sz="1800" spc="-40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dirty="0" sz="1800" spc="-40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D"/>
                </a:solidFill>
                <a:latin typeface="Cambria"/>
                <a:cs typeface="Cambria"/>
              </a:rPr>
              <a:t>HoD:</a:t>
            </a:r>
            <a:r>
              <a:rPr dirty="0" sz="1800" spc="-20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spc="-45" b="1">
                <a:latin typeface="Cambria"/>
                <a:cs typeface="Cambria"/>
              </a:rPr>
              <a:t>Dr.</a:t>
            </a:r>
            <a:r>
              <a:rPr dirty="0" sz="1800" spc="-40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Pravinthraja</a:t>
            </a:r>
            <a:r>
              <a:rPr dirty="0" sz="1800" spc="-40" b="1">
                <a:latin typeface="Cambria"/>
                <a:cs typeface="Cambria"/>
              </a:rPr>
              <a:t> </a:t>
            </a:r>
            <a:r>
              <a:rPr dirty="0" sz="1800" spc="-50" b="1">
                <a:latin typeface="Cambria"/>
                <a:cs typeface="Cambria"/>
              </a:rPr>
              <a:t>S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dirty="0" sz="1800" spc="-40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dirty="0" sz="1800" spc="-40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dirty="0" sz="1800" spc="-35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D"/>
                </a:solidFill>
                <a:latin typeface="Cambria"/>
                <a:cs typeface="Cambria"/>
              </a:rPr>
              <a:t>Program</a:t>
            </a:r>
            <a:r>
              <a:rPr dirty="0" sz="1800" spc="-40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4F81BD"/>
                </a:solidFill>
                <a:latin typeface="Cambria"/>
                <a:cs typeface="Cambria"/>
              </a:rPr>
              <a:t>Project</a:t>
            </a:r>
            <a:r>
              <a:rPr dirty="0" sz="1800" spc="-40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4F81BD"/>
                </a:solidFill>
                <a:latin typeface="Cambria"/>
                <a:cs typeface="Cambria"/>
              </a:rPr>
              <a:t>Coordinator:</a:t>
            </a:r>
            <a:r>
              <a:rPr dirty="0" sz="1800" spc="-15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spc="-45" b="1">
                <a:latin typeface="Cambria"/>
                <a:cs typeface="Cambria"/>
              </a:rPr>
              <a:t>Dr.</a:t>
            </a:r>
            <a:r>
              <a:rPr dirty="0" sz="1800" spc="-3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H</a:t>
            </a:r>
            <a:r>
              <a:rPr dirty="0" sz="1800" spc="-4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M</a:t>
            </a:r>
            <a:r>
              <a:rPr dirty="0" sz="1800" spc="-40" b="1">
                <a:latin typeface="Cambria"/>
                <a:cs typeface="Cambria"/>
              </a:rPr>
              <a:t> </a:t>
            </a:r>
            <a:r>
              <a:rPr dirty="0" sz="1800" spc="-10" b="1">
                <a:latin typeface="Cambria"/>
                <a:cs typeface="Cambria"/>
              </a:rPr>
              <a:t>Manjula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dirty="0" sz="1800" spc="-40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dirty="0" sz="1800" spc="-35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dirty="0" sz="1800" spc="-35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D"/>
                </a:solidFill>
                <a:latin typeface="Cambria"/>
                <a:cs typeface="Cambria"/>
              </a:rPr>
              <a:t>School</a:t>
            </a:r>
            <a:r>
              <a:rPr dirty="0" sz="1800" spc="-40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4F81BD"/>
                </a:solidFill>
                <a:latin typeface="Cambria"/>
                <a:cs typeface="Cambria"/>
              </a:rPr>
              <a:t>Project</a:t>
            </a:r>
            <a:r>
              <a:rPr dirty="0" sz="1800" spc="-35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4F81BD"/>
                </a:solidFill>
                <a:latin typeface="Cambria"/>
                <a:cs typeface="Cambria"/>
              </a:rPr>
              <a:t>Coordinators:</a:t>
            </a:r>
            <a:r>
              <a:rPr dirty="0" sz="1800" spc="-15" b="1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dirty="0" sz="1800" spc="-45" b="1">
                <a:latin typeface="Cambria"/>
                <a:cs typeface="Cambria"/>
              </a:rPr>
              <a:t>Dr.</a:t>
            </a:r>
            <a:r>
              <a:rPr dirty="0" sz="1800" spc="-3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Sampath</a:t>
            </a:r>
            <a:r>
              <a:rPr dirty="0" sz="1800" spc="-4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A</a:t>
            </a:r>
            <a:r>
              <a:rPr dirty="0" sz="1800" spc="-3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K</a:t>
            </a:r>
            <a:r>
              <a:rPr dirty="0" sz="1800" spc="-3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,</a:t>
            </a:r>
            <a:r>
              <a:rPr dirty="0" sz="1800" spc="-40" b="1">
                <a:latin typeface="Cambria"/>
                <a:cs typeface="Cambria"/>
              </a:rPr>
              <a:t> </a:t>
            </a:r>
            <a:r>
              <a:rPr dirty="0" sz="1800" spc="-45" b="1">
                <a:latin typeface="Cambria"/>
                <a:cs typeface="Cambria"/>
              </a:rPr>
              <a:t>Dr.</a:t>
            </a:r>
            <a:r>
              <a:rPr dirty="0" sz="1800" spc="-3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Geetha</a:t>
            </a:r>
            <a:r>
              <a:rPr dirty="0" sz="1800" spc="-35" b="1">
                <a:latin typeface="Cambria"/>
                <a:cs typeface="Cambria"/>
              </a:rPr>
              <a:t> </a:t>
            </a:r>
            <a:r>
              <a:rPr dirty="0" sz="1800" spc="-50" b="1">
                <a:latin typeface="Cambria"/>
                <a:cs typeface="Cambria"/>
              </a:rPr>
              <a:t>A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Problem</a:t>
            </a:r>
            <a:r>
              <a:rPr dirty="0" spc="-8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Statement</a:t>
            </a:r>
            <a:r>
              <a:rPr dirty="0" spc="-8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Number:</a:t>
            </a:r>
            <a:r>
              <a:rPr dirty="0" spc="-80">
                <a:latin typeface="Cambria"/>
                <a:cs typeface="Cambria"/>
              </a:rPr>
              <a:t> </a:t>
            </a:r>
            <a:r>
              <a:rPr dirty="0" spc="-10">
                <a:latin typeface="Cambria"/>
                <a:cs typeface="Cambria"/>
              </a:rPr>
              <a:t>25275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7425" y="1118312"/>
            <a:ext cx="10337800" cy="4637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latin typeface="Cambria"/>
                <a:cs typeface="Cambria"/>
              </a:rPr>
              <a:t>Organization: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Ministry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of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Agriculture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&amp;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spc="-20" b="1">
                <a:latin typeface="Cambria"/>
                <a:cs typeface="Cambria"/>
              </a:rPr>
              <a:t>Farmers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spc="-25" b="1">
                <a:latin typeface="Cambria"/>
                <a:cs typeface="Cambria"/>
              </a:rPr>
              <a:t>Welfare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(MoA&amp;FW)</a:t>
            </a:r>
            <a:endParaRPr sz="1700">
              <a:latin typeface="Cambria"/>
              <a:cs typeface="Cambria"/>
            </a:endParaRPr>
          </a:p>
          <a:p>
            <a:pPr marL="12700" marR="8194675">
              <a:lnSpc>
                <a:spcPct val="160000"/>
              </a:lnSpc>
            </a:pPr>
            <a:r>
              <a:rPr dirty="0" sz="1700" b="1">
                <a:latin typeface="Cambria"/>
                <a:cs typeface="Cambria"/>
              </a:rPr>
              <a:t>Category</a:t>
            </a:r>
            <a:r>
              <a:rPr dirty="0" sz="1700" spc="-5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: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Software </a:t>
            </a:r>
            <a:r>
              <a:rPr dirty="0" sz="1700" b="1">
                <a:latin typeface="Cambria"/>
                <a:cs typeface="Cambria"/>
              </a:rPr>
              <a:t>Problem</a:t>
            </a:r>
            <a:r>
              <a:rPr dirty="0" sz="1700" spc="-6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Description:</a:t>
            </a:r>
            <a:endParaRPr sz="1700">
              <a:latin typeface="Cambria"/>
              <a:cs typeface="Cambria"/>
            </a:endParaRPr>
          </a:p>
          <a:p>
            <a:pPr marL="107314">
              <a:lnSpc>
                <a:spcPts val="1835"/>
              </a:lnSpc>
              <a:spcBef>
                <a:spcPts val="1220"/>
              </a:spcBef>
            </a:pPr>
            <a:r>
              <a:rPr dirty="0" sz="1700" spc="-10" b="1">
                <a:solidFill>
                  <a:srgbClr val="212529"/>
                </a:solidFill>
                <a:latin typeface="Cambria"/>
                <a:cs typeface="Cambria"/>
              </a:rPr>
              <a:t>Background</a:t>
            </a:r>
            <a:endParaRPr sz="1700">
              <a:latin typeface="Cambria"/>
              <a:cs typeface="Cambria"/>
            </a:endParaRPr>
          </a:p>
          <a:p>
            <a:pPr algn="just" marL="203200" marR="8890" indent="-46990">
              <a:lnSpc>
                <a:spcPct val="80000"/>
              </a:lnSpc>
              <a:spcBef>
                <a:spcPts val="204"/>
              </a:spcBef>
            </a:pP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Farmers</a:t>
            </a:r>
            <a:r>
              <a:rPr dirty="0" sz="1700" spc="204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often</a:t>
            </a:r>
            <a:r>
              <a:rPr dirty="0" sz="1700" spc="21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fail</a:t>
            </a:r>
            <a:r>
              <a:rPr dirty="0" sz="1700" spc="21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to</a:t>
            </a:r>
            <a:r>
              <a:rPr dirty="0" sz="1700" spc="21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capture</a:t>
            </a:r>
            <a:r>
              <a:rPr dirty="0" sz="1700" spc="204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value</a:t>
            </a:r>
            <a:r>
              <a:rPr dirty="0" sz="1700" spc="21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from</a:t>
            </a:r>
            <a:r>
              <a:rPr dirty="0" sz="1700" spc="21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oilseed</a:t>
            </a:r>
            <a:r>
              <a:rPr dirty="0" sz="1700" spc="21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3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products</a:t>
            </a:r>
            <a:r>
              <a:rPr dirty="0" sz="1700" spc="204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like</a:t>
            </a:r>
            <a:r>
              <a:rPr dirty="0" sz="1700" spc="21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soymeal</a:t>
            </a:r>
            <a:r>
              <a:rPr dirty="0" sz="1700" spc="21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due</a:t>
            </a:r>
            <a:r>
              <a:rPr dirty="0" sz="1700" spc="21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to</a:t>
            </a:r>
            <a:r>
              <a:rPr dirty="0" sz="1700" spc="21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market</a:t>
            </a:r>
            <a:r>
              <a:rPr dirty="0" sz="1700" spc="204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asymmetries</a:t>
            </a:r>
            <a:r>
              <a:rPr dirty="0" sz="1700" spc="21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25">
                <a:solidFill>
                  <a:srgbClr val="212529"/>
                </a:solidFill>
                <a:latin typeface="Cambria"/>
                <a:cs typeface="Cambria"/>
              </a:rPr>
              <a:t>and </a:t>
            </a:r>
            <a:r>
              <a:rPr dirty="0" sz="1700" spc="-20">
                <a:solidFill>
                  <a:srgbClr val="212529"/>
                </a:solidFill>
                <a:latin typeface="Cambria"/>
                <a:cs typeface="Cambria"/>
              </a:rPr>
              <a:t>volatility.</a:t>
            </a:r>
            <a:r>
              <a:rPr dirty="0" sz="1700" spc="-4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10">
                <a:solidFill>
                  <a:srgbClr val="212529"/>
                </a:solidFill>
                <a:latin typeface="Cambria"/>
                <a:cs typeface="Cambria"/>
              </a:rPr>
              <a:t>Events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like</a:t>
            </a:r>
            <a:r>
              <a:rPr dirty="0" sz="1700" spc="-4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the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2022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10">
                <a:solidFill>
                  <a:srgbClr val="212529"/>
                </a:solidFill>
                <a:latin typeface="Cambria"/>
                <a:cs typeface="Cambria"/>
              </a:rPr>
              <a:t>Russia-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Ukraine</a:t>
            </a:r>
            <a:r>
              <a:rPr dirty="0" sz="1700" spc="-4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conflict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caused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price</a:t>
            </a:r>
            <a:r>
              <a:rPr dirty="0" sz="1700" spc="-4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distortions,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where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consumer</a:t>
            </a:r>
            <a:r>
              <a:rPr dirty="0" sz="1700" spc="-4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prices</a:t>
            </a:r>
            <a:r>
              <a:rPr dirty="0" sz="1700" spc="1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10">
                <a:solidFill>
                  <a:srgbClr val="212529"/>
                </a:solidFill>
                <a:latin typeface="Cambria"/>
                <a:cs typeface="Cambria"/>
              </a:rPr>
              <a:t>surged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while</a:t>
            </a:r>
            <a:r>
              <a:rPr dirty="0" sz="1700" spc="29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10">
                <a:solidFill>
                  <a:srgbClr val="212529"/>
                </a:solidFill>
                <a:latin typeface="Cambria"/>
                <a:cs typeface="Cambria"/>
              </a:rPr>
              <a:t>farm-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gate</a:t>
            </a:r>
            <a:r>
              <a:rPr dirty="0" sz="1700" spc="30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prices</a:t>
            </a:r>
            <a:r>
              <a:rPr dirty="0" sz="1700" spc="30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stagnated.</a:t>
            </a:r>
            <a:r>
              <a:rPr dirty="0" sz="1700" spc="29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The</a:t>
            </a:r>
            <a:r>
              <a:rPr dirty="0" sz="1700" spc="30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lack</a:t>
            </a:r>
            <a:r>
              <a:rPr dirty="0" sz="1700" spc="30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of</a:t>
            </a:r>
            <a:r>
              <a:rPr dirty="0" sz="1700" spc="29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structured</a:t>
            </a:r>
            <a:r>
              <a:rPr dirty="0" sz="1700" spc="30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market</a:t>
            </a:r>
            <a:r>
              <a:rPr dirty="0" sz="1700" spc="30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linkages</a:t>
            </a:r>
            <a:r>
              <a:rPr dirty="0" sz="1700" spc="29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dirty="0" sz="1700" spc="30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3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products</a:t>
            </a:r>
            <a:r>
              <a:rPr dirty="0" sz="1700" spc="30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reduces</a:t>
            </a:r>
            <a:r>
              <a:rPr dirty="0" sz="1700" spc="29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10">
                <a:solidFill>
                  <a:srgbClr val="212529"/>
                </a:solidFill>
                <a:latin typeface="Cambria"/>
                <a:cs typeface="Cambria"/>
              </a:rPr>
              <a:t>farmer profitability</a:t>
            </a:r>
            <a:r>
              <a:rPr dirty="0" sz="1700" spc="-3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dirty="0" sz="1700" spc="-2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discourages</a:t>
            </a:r>
            <a:r>
              <a:rPr dirty="0" sz="1700" spc="-2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10">
                <a:solidFill>
                  <a:srgbClr val="212529"/>
                </a:solidFill>
                <a:latin typeface="Cambria"/>
                <a:cs typeface="Cambria"/>
              </a:rPr>
              <a:t>investment</a:t>
            </a:r>
            <a:r>
              <a:rPr dirty="0" sz="1700" spc="-3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in</a:t>
            </a:r>
            <a:r>
              <a:rPr dirty="0" sz="1700" spc="-2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oilseed</a:t>
            </a:r>
            <a:r>
              <a:rPr dirty="0" sz="1700" spc="-2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10">
                <a:solidFill>
                  <a:srgbClr val="212529"/>
                </a:solidFill>
                <a:latin typeface="Cambria"/>
                <a:cs typeface="Cambria"/>
              </a:rPr>
              <a:t>cultivation.</a:t>
            </a:r>
            <a:endParaRPr sz="1700">
              <a:latin typeface="Cambria"/>
              <a:cs typeface="Cambria"/>
            </a:endParaRPr>
          </a:p>
          <a:p>
            <a:pPr algn="just" marL="59690">
              <a:lnSpc>
                <a:spcPts val="1835"/>
              </a:lnSpc>
              <a:spcBef>
                <a:spcPts val="1225"/>
              </a:spcBef>
            </a:pPr>
            <a:r>
              <a:rPr dirty="0" sz="1700" spc="-10" b="1">
                <a:solidFill>
                  <a:srgbClr val="212529"/>
                </a:solidFill>
                <a:latin typeface="Cambria"/>
                <a:cs typeface="Cambria"/>
              </a:rPr>
              <a:t>Detailed</a:t>
            </a:r>
            <a:r>
              <a:rPr dirty="0" sz="1700" spc="-30" b="1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10" b="1">
                <a:solidFill>
                  <a:srgbClr val="212529"/>
                </a:solidFill>
                <a:latin typeface="Cambria"/>
                <a:cs typeface="Cambria"/>
              </a:rPr>
              <a:t>Description</a:t>
            </a:r>
            <a:endParaRPr sz="1700">
              <a:latin typeface="Cambria"/>
              <a:cs typeface="Cambria"/>
            </a:endParaRPr>
          </a:p>
          <a:p>
            <a:pPr algn="just" marL="203200" marR="5080" indent="-73025">
              <a:lnSpc>
                <a:spcPts val="1630"/>
              </a:lnSpc>
              <a:spcBef>
                <a:spcPts val="190"/>
              </a:spcBef>
            </a:pP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Create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a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digital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value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chain</a:t>
            </a:r>
            <a:r>
              <a:rPr dirty="0" sz="1700" spc="7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platform</a:t>
            </a:r>
            <a:r>
              <a:rPr dirty="0" sz="1700" spc="7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connecting</a:t>
            </a:r>
            <a:r>
              <a:rPr dirty="0" sz="1700" spc="7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farmers,</a:t>
            </a:r>
            <a:r>
              <a:rPr dirty="0" sz="1700" spc="7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processors,</a:t>
            </a:r>
            <a:r>
              <a:rPr dirty="0" sz="1700" spc="7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buyers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dirty="0" sz="1700" spc="7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oilseed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3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products.</a:t>
            </a:r>
            <a:r>
              <a:rPr dirty="0" sz="1700" spc="7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25">
                <a:solidFill>
                  <a:srgbClr val="212529"/>
                </a:solidFill>
                <a:latin typeface="Cambria"/>
                <a:cs typeface="Cambria"/>
              </a:rPr>
              <a:t>The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system</a:t>
            </a:r>
            <a:r>
              <a:rPr dirty="0" sz="1700" spc="22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should</a:t>
            </a:r>
            <a:r>
              <a:rPr dirty="0" sz="1700" spc="22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provide</a:t>
            </a:r>
            <a:r>
              <a:rPr dirty="0" sz="1700" spc="22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10">
                <a:solidFill>
                  <a:srgbClr val="212529"/>
                </a:solidFill>
                <a:latin typeface="Cambria"/>
                <a:cs typeface="Cambria"/>
              </a:rPr>
              <a:t>real-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time</a:t>
            </a:r>
            <a:r>
              <a:rPr dirty="0" sz="1700" spc="22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10">
                <a:solidFill>
                  <a:srgbClr val="212529"/>
                </a:solidFill>
                <a:latin typeface="Cambria"/>
                <a:cs typeface="Cambria"/>
              </a:rPr>
              <a:t>demand-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supply</a:t>
            </a:r>
            <a:r>
              <a:rPr dirty="0" sz="1700" spc="22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visibility,</a:t>
            </a:r>
            <a:r>
              <a:rPr dirty="0" sz="1700" spc="22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enable</a:t>
            </a:r>
            <a:r>
              <a:rPr dirty="0" sz="1700" spc="22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direct</a:t>
            </a:r>
            <a:r>
              <a:rPr dirty="0" sz="1700" spc="22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transactions,</a:t>
            </a:r>
            <a:r>
              <a:rPr dirty="0" sz="1700" spc="22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dirty="0" sz="1700" spc="22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forecast</a:t>
            </a:r>
            <a:r>
              <a:rPr dirty="0" sz="1700" spc="22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10">
                <a:solidFill>
                  <a:srgbClr val="212529"/>
                </a:solidFill>
                <a:latin typeface="Cambria"/>
                <a:cs typeface="Cambria"/>
              </a:rPr>
              <a:t>market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trends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3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products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such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as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meal,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cakes,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husk.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It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should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also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identify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export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opportunities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dirty="0" sz="1700" spc="7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10">
                <a:solidFill>
                  <a:srgbClr val="212529"/>
                </a:solidFill>
                <a:latin typeface="Cambria"/>
                <a:cs typeface="Cambria"/>
              </a:rPr>
              <a:t>surplus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dirty="0" sz="1700" spc="-2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specialty</a:t>
            </a:r>
            <a:r>
              <a:rPr dirty="0" sz="1700" spc="-2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3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dirty="0" sz="1700" spc="-10">
                <a:solidFill>
                  <a:srgbClr val="212529"/>
                </a:solidFill>
                <a:latin typeface="Cambria"/>
                <a:cs typeface="Cambria"/>
              </a:rPr>
              <a:t>products.</a:t>
            </a:r>
            <a:endParaRPr sz="1700">
              <a:latin typeface="Cambria"/>
              <a:cs typeface="Cambria"/>
            </a:endParaRPr>
          </a:p>
          <a:p>
            <a:pPr algn="just" marL="59690">
              <a:lnSpc>
                <a:spcPts val="1835"/>
              </a:lnSpc>
              <a:spcBef>
                <a:spcPts val="1245"/>
              </a:spcBef>
            </a:pPr>
            <a:r>
              <a:rPr dirty="0" sz="1700" spc="-10" b="1">
                <a:solidFill>
                  <a:srgbClr val="212529"/>
                </a:solidFill>
                <a:latin typeface="Cambria"/>
                <a:cs typeface="Cambria"/>
              </a:rPr>
              <a:t>Expected</a:t>
            </a:r>
            <a:r>
              <a:rPr dirty="0" sz="1700" spc="-35" b="1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10" b="1">
                <a:solidFill>
                  <a:srgbClr val="212529"/>
                </a:solidFill>
                <a:latin typeface="Cambria"/>
                <a:cs typeface="Cambria"/>
              </a:rPr>
              <a:t>Solution</a:t>
            </a:r>
            <a:endParaRPr sz="1700">
              <a:latin typeface="Cambria"/>
              <a:cs typeface="Cambria"/>
            </a:endParaRPr>
          </a:p>
          <a:p>
            <a:pPr algn="just" marL="203200" marR="36195" indent="-3810">
              <a:lnSpc>
                <a:spcPts val="1630"/>
              </a:lnSpc>
              <a:spcBef>
                <a:spcPts val="195"/>
              </a:spcBef>
            </a:pP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An</a:t>
            </a:r>
            <a:r>
              <a:rPr dirty="0" sz="1700" spc="40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60">
                <a:solidFill>
                  <a:srgbClr val="212529"/>
                </a:solidFill>
                <a:latin typeface="Cambria"/>
                <a:cs typeface="Cambria"/>
              </a:rPr>
              <a:t>IoT-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integrated</a:t>
            </a:r>
            <a:r>
              <a:rPr dirty="0" sz="1700" spc="40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marketplace</a:t>
            </a:r>
            <a:r>
              <a:rPr dirty="0" sz="1700" spc="40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application</a:t>
            </a:r>
            <a:r>
              <a:rPr dirty="0" sz="1700" spc="40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featuring</a:t>
            </a:r>
            <a:r>
              <a:rPr dirty="0" sz="1700" spc="40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smart</a:t>
            </a:r>
            <a:r>
              <a:rPr dirty="0" sz="1700" spc="40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contracts</a:t>
            </a:r>
            <a:r>
              <a:rPr dirty="0" sz="1700" spc="40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dirty="0" sz="1700" spc="40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transaction</a:t>
            </a:r>
            <a:r>
              <a:rPr dirty="0" sz="1700" spc="40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security,</a:t>
            </a:r>
            <a:r>
              <a:rPr dirty="0" sz="1700" spc="40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10">
                <a:solidFill>
                  <a:srgbClr val="212529"/>
                </a:solidFill>
                <a:latin typeface="Cambria"/>
                <a:cs typeface="Cambria"/>
              </a:rPr>
              <a:t>predictive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analytics</a:t>
            </a:r>
            <a:r>
              <a:rPr dirty="0" sz="1700" spc="13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dirty="0" sz="1700" spc="13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price</a:t>
            </a:r>
            <a:r>
              <a:rPr dirty="0" sz="1700" spc="13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volatility,</a:t>
            </a:r>
            <a:r>
              <a:rPr dirty="0" sz="1700" spc="13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dirty="0" sz="1700" spc="13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tools</a:t>
            </a:r>
            <a:r>
              <a:rPr dirty="0" sz="1700" spc="13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dirty="0" sz="1700" spc="13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global</a:t>
            </a:r>
            <a:r>
              <a:rPr dirty="0" sz="1700" spc="13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export</a:t>
            </a:r>
            <a:r>
              <a:rPr dirty="0" sz="1700" spc="13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matchmaking.</a:t>
            </a:r>
            <a:r>
              <a:rPr dirty="0" sz="1700" spc="13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By</a:t>
            </a:r>
            <a:r>
              <a:rPr dirty="0" sz="1700" spc="13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leveraging</a:t>
            </a:r>
            <a:r>
              <a:rPr dirty="0" sz="1700" spc="13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blockchain</a:t>
            </a:r>
            <a:r>
              <a:rPr dirty="0" sz="1700" spc="13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dirty="0" sz="1700" spc="13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AI,</a:t>
            </a:r>
            <a:r>
              <a:rPr dirty="0" sz="1700" spc="13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25">
                <a:solidFill>
                  <a:srgbClr val="212529"/>
                </a:solidFill>
                <a:latin typeface="Cambria"/>
                <a:cs typeface="Cambria"/>
              </a:rPr>
              <a:t>the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solution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will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empower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farmers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to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monetize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every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part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of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the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value</a:t>
            </a:r>
            <a:r>
              <a:rPr dirty="0" sz="1700" spc="-35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212529"/>
                </a:solidFill>
                <a:latin typeface="Cambria"/>
                <a:cs typeface="Cambria"/>
              </a:rPr>
              <a:t>chain</a:t>
            </a:r>
            <a:r>
              <a:rPr dirty="0" sz="1700" spc="-4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dirty="0" sz="1700" spc="-10">
                <a:solidFill>
                  <a:srgbClr val="212529"/>
                </a:solidFill>
                <a:latin typeface="Cambria"/>
                <a:cs typeface="Cambria"/>
              </a:rPr>
              <a:t>effectively.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Cambria"/>
                <a:cs typeface="Cambria"/>
              </a:rPr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6900" y="1000840"/>
            <a:ext cx="4625975" cy="507174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346075" indent="-333375">
              <a:lnSpc>
                <a:spcPct val="100000"/>
              </a:lnSpc>
              <a:spcBef>
                <a:spcPts val="370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dirty="0" sz="2150" b="1">
                <a:latin typeface="Cambria"/>
                <a:cs typeface="Cambria"/>
              </a:rPr>
              <a:t>Problem</a:t>
            </a:r>
            <a:r>
              <a:rPr dirty="0" sz="2150" spc="-90" b="1">
                <a:latin typeface="Cambria"/>
                <a:cs typeface="Cambria"/>
              </a:rPr>
              <a:t> </a:t>
            </a:r>
            <a:r>
              <a:rPr dirty="0" sz="2150" spc="-10" b="1">
                <a:latin typeface="Cambria"/>
                <a:cs typeface="Cambria"/>
              </a:rPr>
              <a:t>Statement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dirty="0" sz="2150" spc="-10" b="1">
                <a:latin typeface="Cambria"/>
                <a:cs typeface="Cambria"/>
              </a:rPr>
              <a:t>Objectives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dirty="0" sz="2150" spc="-10" b="1">
                <a:latin typeface="Cambria"/>
                <a:cs typeface="Cambria"/>
              </a:rPr>
              <a:t>Background</a:t>
            </a:r>
            <a:r>
              <a:rPr dirty="0" sz="2150" spc="-90" b="1">
                <a:latin typeface="Cambria"/>
                <a:cs typeface="Cambria"/>
              </a:rPr>
              <a:t> </a:t>
            </a:r>
            <a:r>
              <a:rPr dirty="0" sz="2150" b="1">
                <a:latin typeface="Cambria"/>
                <a:cs typeface="Cambria"/>
              </a:rPr>
              <a:t>and</a:t>
            </a:r>
            <a:r>
              <a:rPr dirty="0" sz="2150" spc="-85" b="1">
                <a:latin typeface="Cambria"/>
                <a:cs typeface="Cambria"/>
              </a:rPr>
              <a:t> </a:t>
            </a:r>
            <a:r>
              <a:rPr dirty="0" sz="2150" b="1">
                <a:latin typeface="Cambria"/>
                <a:cs typeface="Cambria"/>
              </a:rPr>
              <a:t>Related</a:t>
            </a:r>
            <a:r>
              <a:rPr dirty="0" sz="2150" spc="-85" b="1">
                <a:latin typeface="Cambria"/>
                <a:cs typeface="Cambria"/>
              </a:rPr>
              <a:t> </a:t>
            </a:r>
            <a:r>
              <a:rPr dirty="0" sz="2150" spc="-20" b="1">
                <a:latin typeface="Cambria"/>
                <a:cs typeface="Cambria"/>
              </a:rPr>
              <a:t>Work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0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dirty="0" sz="2150" spc="-10" b="1">
                <a:latin typeface="Cambria"/>
                <a:cs typeface="Cambria"/>
              </a:rPr>
              <a:t>Analysis</a:t>
            </a:r>
            <a:r>
              <a:rPr dirty="0" sz="2150" spc="-60" b="1">
                <a:latin typeface="Cambria"/>
                <a:cs typeface="Cambria"/>
              </a:rPr>
              <a:t> </a:t>
            </a:r>
            <a:r>
              <a:rPr dirty="0" sz="2150" b="1">
                <a:latin typeface="Cambria"/>
                <a:cs typeface="Cambria"/>
              </a:rPr>
              <a:t>of</a:t>
            </a:r>
            <a:r>
              <a:rPr dirty="0" sz="2150" spc="-55" b="1">
                <a:latin typeface="Cambria"/>
                <a:cs typeface="Cambria"/>
              </a:rPr>
              <a:t> </a:t>
            </a:r>
            <a:r>
              <a:rPr dirty="0" sz="2150" b="1">
                <a:latin typeface="Cambria"/>
                <a:cs typeface="Cambria"/>
              </a:rPr>
              <a:t>Problem</a:t>
            </a:r>
            <a:r>
              <a:rPr dirty="0" sz="2150" spc="-55" b="1">
                <a:latin typeface="Cambria"/>
                <a:cs typeface="Cambria"/>
              </a:rPr>
              <a:t> </a:t>
            </a:r>
            <a:r>
              <a:rPr dirty="0" sz="2150" spc="-10" b="1">
                <a:latin typeface="Cambria"/>
                <a:cs typeface="Cambria"/>
              </a:rPr>
              <a:t>Statement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dirty="0" sz="2150" spc="-10" b="1">
                <a:latin typeface="Cambria"/>
                <a:cs typeface="Cambria"/>
              </a:rPr>
              <a:t>Proposed</a:t>
            </a:r>
            <a:r>
              <a:rPr dirty="0" sz="2150" spc="-85" b="1">
                <a:latin typeface="Cambria"/>
                <a:cs typeface="Cambria"/>
              </a:rPr>
              <a:t> </a:t>
            </a:r>
            <a:r>
              <a:rPr dirty="0" sz="2150" spc="-10" b="1">
                <a:latin typeface="Cambria"/>
                <a:cs typeface="Cambria"/>
              </a:rPr>
              <a:t>Datasets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dirty="0" sz="2150" spc="-20" b="1">
                <a:latin typeface="Cambria"/>
                <a:cs typeface="Cambria"/>
              </a:rPr>
              <a:t>Innovation</a:t>
            </a:r>
            <a:r>
              <a:rPr dirty="0" sz="2150" spc="-55" b="1">
                <a:latin typeface="Cambria"/>
                <a:cs typeface="Cambria"/>
              </a:rPr>
              <a:t> </a:t>
            </a:r>
            <a:r>
              <a:rPr dirty="0" sz="2150" b="1">
                <a:latin typeface="Cambria"/>
                <a:cs typeface="Cambria"/>
              </a:rPr>
              <a:t>or</a:t>
            </a:r>
            <a:r>
              <a:rPr dirty="0" sz="2150" spc="-50" b="1">
                <a:latin typeface="Cambria"/>
                <a:cs typeface="Cambria"/>
              </a:rPr>
              <a:t> </a:t>
            </a:r>
            <a:r>
              <a:rPr dirty="0" sz="2150" spc="-10" b="1">
                <a:latin typeface="Cambria"/>
                <a:cs typeface="Cambria"/>
              </a:rPr>
              <a:t>Novel</a:t>
            </a:r>
            <a:r>
              <a:rPr dirty="0" sz="2150" spc="-50" b="1">
                <a:latin typeface="Cambria"/>
                <a:cs typeface="Cambria"/>
              </a:rPr>
              <a:t> </a:t>
            </a:r>
            <a:r>
              <a:rPr dirty="0" sz="2150" spc="-10" b="1">
                <a:latin typeface="Cambria"/>
                <a:cs typeface="Cambria"/>
              </a:rPr>
              <a:t>Contributions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dirty="0" sz="2150" spc="-30" b="1">
                <a:latin typeface="Cambria"/>
                <a:cs typeface="Cambria"/>
              </a:rPr>
              <a:t>Technology</a:t>
            </a:r>
            <a:r>
              <a:rPr dirty="0" sz="2150" spc="-45" b="1">
                <a:latin typeface="Cambria"/>
                <a:cs typeface="Cambria"/>
              </a:rPr>
              <a:t> </a:t>
            </a:r>
            <a:r>
              <a:rPr dirty="0" sz="2150" b="1">
                <a:latin typeface="Cambria"/>
                <a:cs typeface="Cambria"/>
              </a:rPr>
              <a:t>Stack</a:t>
            </a:r>
            <a:r>
              <a:rPr dirty="0" sz="2150" spc="-40" b="1">
                <a:latin typeface="Cambria"/>
                <a:cs typeface="Cambria"/>
              </a:rPr>
              <a:t> </a:t>
            </a:r>
            <a:r>
              <a:rPr dirty="0" sz="2150" b="1">
                <a:latin typeface="Cambria"/>
                <a:cs typeface="Cambria"/>
              </a:rPr>
              <a:t>&amp;</a:t>
            </a:r>
            <a:r>
              <a:rPr dirty="0" sz="2150" spc="-40" b="1">
                <a:latin typeface="Cambria"/>
                <a:cs typeface="Cambria"/>
              </a:rPr>
              <a:t> </a:t>
            </a:r>
            <a:r>
              <a:rPr dirty="0" sz="2150" spc="-10" b="1">
                <a:latin typeface="Cambria"/>
                <a:cs typeface="Cambria"/>
              </a:rPr>
              <a:t>Requirements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0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dirty="0" sz="2150" b="1">
                <a:latin typeface="Cambria"/>
                <a:cs typeface="Cambria"/>
              </a:rPr>
              <a:t>Timeline</a:t>
            </a:r>
            <a:r>
              <a:rPr dirty="0" sz="2150" spc="-35" b="1">
                <a:latin typeface="Cambria"/>
                <a:cs typeface="Cambria"/>
              </a:rPr>
              <a:t> </a:t>
            </a:r>
            <a:r>
              <a:rPr dirty="0" sz="2150" b="1">
                <a:latin typeface="Cambria"/>
                <a:cs typeface="Cambria"/>
              </a:rPr>
              <a:t>of</a:t>
            </a:r>
            <a:r>
              <a:rPr dirty="0" sz="2150" spc="-30" b="1">
                <a:latin typeface="Cambria"/>
                <a:cs typeface="Cambria"/>
              </a:rPr>
              <a:t> </a:t>
            </a:r>
            <a:r>
              <a:rPr dirty="0" sz="2150" b="1">
                <a:latin typeface="Cambria"/>
                <a:cs typeface="Cambria"/>
              </a:rPr>
              <a:t>the</a:t>
            </a:r>
            <a:r>
              <a:rPr dirty="0" sz="2150" spc="-35" b="1">
                <a:latin typeface="Cambria"/>
                <a:cs typeface="Cambria"/>
              </a:rPr>
              <a:t> </a:t>
            </a:r>
            <a:r>
              <a:rPr dirty="0" sz="2150" spc="-10" b="1">
                <a:latin typeface="Cambria"/>
                <a:cs typeface="Cambria"/>
              </a:rPr>
              <a:t>Project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dirty="0" sz="2150" b="1">
                <a:latin typeface="Cambria"/>
                <a:cs typeface="Cambria"/>
              </a:rPr>
              <a:t>GitHub</a:t>
            </a:r>
            <a:r>
              <a:rPr dirty="0" sz="2150" spc="-100" b="1">
                <a:latin typeface="Cambria"/>
                <a:cs typeface="Cambria"/>
              </a:rPr>
              <a:t> </a:t>
            </a:r>
            <a:r>
              <a:rPr dirty="0" sz="2150" spc="-20" b="1">
                <a:latin typeface="Cambria"/>
                <a:cs typeface="Cambria"/>
              </a:rPr>
              <a:t>Link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dirty="0" sz="2150" spc="-10" b="1">
                <a:latin typeface="Cambria"/>
                <a:cs typeface="Cambria"/>
              </a:rPr>
              <a:t>References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170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825" y="964352"/>
            <a:ext cx="10335895" cy="5090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3820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latin typeface="Cambria"/>
                <a:cs typeface="Cambria"/>
              </a:rPr>
              <a:t>Oilseed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 spc="-30">
                <a:latin typeface="Cambria"/>
                <a:cs typeface="Cambria"/>
              </a:rPr>
              <a:t>by-</a:t>
            </a:r>
            <a:r>
              <a:rPr dirty="0" sz="1700">
                <a:latin typeface="Cambria"/>
                <a:cs typeface="Cambria"/>
              </a:rPr>
              <a:t>products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such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as</a:t>
            </a:r>
            <a:r>
              <a:rPr dirty="0" sz="1700" spc="-20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soymeal,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oil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cakes,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husk,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and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bran</a:t>
            </a:r>
            <a:r>
              <a:rPr dirty="0" sz="1700" spc="-15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are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valuable,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but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farmers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receive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low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returns </a:t>
            </a:r>
            <a:r>
              <a:rPr dirty="0" sz="1700">
                <a:latin typeface="Cambria"/>
                <a:cs typeface="Cambria"/>
              </a:rPr>
              <a:t>due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to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fragmented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and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non-transparent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markets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dominated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by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middlemen.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Farmers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lack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access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to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real-</a:t>
            </a:r>
            <a:r>
              <a:rPr dirty="0" sz="1700" spc="-20">
                <a:latin typeface="Cambria"/>
                <a:cs typeface="Cambria"/>
              </a:rPr>
              <a:t>time </a:t>
            </a:r>
            <a:r>
              <a:rPr dirty="0" sz="1700">
                <a:latin typeface="Cambria"/>
                <a:cs typeface="Cambria"/>
              </a:rPr>
              <a:t>prices,</a:t>
            </a:r>
            <a:r>
              <a:rPr dirty="0" sz="1700" spc="-5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buyer</a:t>
            </a:r>
            <a:r>
              <a:rPr dirty="0" sz="1700" spc="-5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demand,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and</a:t>
            </a:r>
            <a:r>
              <a:rPr dirty="0" sz="1700" spc="-5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export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opportunities,</a:t>
            </a:r>
            <a:r>
              <a:rPr dirty="0" sz="1700" spc="-5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while</a:t>
            </a:r>
            <a:r>
              <a:rPr dirty="0" sz="1700" spc="-5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global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disruptions</a:t>
            </a:r>
            <a:r>
              <a:rPr dirty="0" sz="1700" spc="-5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cause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price</a:t>
            </a:r>
            <a:r>
              <a:rPr dirty="0" sz="1700" spc="-5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volatility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where</a:t>
            </a:r>
            <a:r>
              <a:rPr dirty="0" sz="1700" spc="-5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consumer </a:t>
            </a:r>
            <a:r>
              <a:rPr dirty="0" sz="1700">
                <a:latin typeface="Cambria"/>
                <a:cs typeface="Cambria"/>
              </a:rPr>
              <a:t>prices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rise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but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farm-</a:t>
            </a:r>
            <a:r>
              <a:rPr dirty="0" sz="1700">
                <a:latin typeface="Cambria"/>
                <a:cs typeface="Cambria"/>
              </a:rPr>
              <a:t>gate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prices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remain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 spc="-20">
                <a:latin typeface="Cambria"/>
                <a:cs typeface="Cambria"/>
              </a:rPr>
              <a:t>low.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Under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the</a:t>
            </a:r>
            <a:r>
              <a:rPr dirty="0" sz="1700" spc="-10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Department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of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Agriculture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&amp;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spc="-20" b="1">
                <a:latin typeface="Cambria"/>
                <a:cs typeface="Cambria"/>
              </a:rPr>
              <a:t>Farmers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spc="-25" b="1">
                <a:latin typeface="Cambria"/>
                <a:cs typeface="Cambria"/>
              </a:rPr>
              <a:t>Welfare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spc="-20" b="1">
                <a:latin typeface="Cambria"/>
                <a:cs typeface="Cambria"/>
              </a:rPr>
              <a:t>(Oil </a:t>
            </a:r>
            <a:r>
              <a:rPr dirty="0" sz="1700" spc="-10" b="1">
                <a:latin typeface="Cambria"/>
                <a:cs typeface="Cambria"/>
              </a:rPr>
              <a:t>Palm),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Ministry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of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Agriculture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&amp;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spc="-20" b="1">
                <a:latin typeface="Cambria"/>
                <a:cs typeface="Cambria"/>
              </a:rPr>
              <a:t>Farmers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spc="-20" b="1">
                <a:latin typeface="Cambria"/>
                <a:cs typeface="Cambria"/>
              </a:rPr>
              <a:t>Welfare</a:t>
            </a:r>
            <a:r>
              <a:rPr dirty="0" sz="1700" spc="-20">
                <a:latin typeface="Cambria"/>
                <a:cs typeface="Cambria"/>
              </a:rPr>
              <a:t>,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these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issues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limit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the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effective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utilization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of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oilseed</a:t>
            </a:r>
            <a:endParaRPr sz="1700">
              <a:latin typeface="Cambria"/>
              <a:cs typeface="Cambria"/>
            </a:endParaRPr>
          </a:p>
          <a:p>
            <a:pPr marL="12700" marR="107950">
              <a:lnSpc>
                <a:spcPct val="114999"/>
              </a:lnSpc>
            </a:pPr>
            <a:r>
              <a:rPr dirty="0" sz="1700" spc="-30">
                <a:latin typeface="Cambria"/>
                <a:cs typeface="Cambria"/>
              </a:rPr>
              <a:t>by-</a:t>
            </a:r>
            <a:r>
              <a:rPr dirty="0" sz="1700">
                <a:latin typeface="Cambria"/>
                <a:cs typeface="Cambria"/>
              </a:rPr>
              <a:t>products.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digital,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spc="-20" b="1">
                <a:latin typeface="Cambria"/>
                <a:cs typeface="Cambria"/>
              </a:rPr>
              <a:t>AI-</a:t>
            </a:r>
            <a:r>
              <a:rPr dirty="0" sz="1700" spc="-10" b="1">
                <a:latin typeface="Cambria"/>
                <a:cs typeface="Cambria"/>
              </a:rPr>
              <a:t>enabled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value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chain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platform</a:t>
            </a:r>
            <a:r>
              <a:rPr dirty="0" sz="1700" spc="-20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is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needed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to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connect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farmers,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processors,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and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buyers </a:t>
            </a:r>
            <a:r>
              <a:rPr dirty="0" sz="1700">
                <a:latin typeface="Cambria"/>
                <a:cs typeface="Cambria"/>
              </a:rPr>
              <a:t>and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ensure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fair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and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efficient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trading.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700">
              <a:latin typeface="Cambria"/>
              <a:cs typeface="Cambria"/>
            </a:endParaRPr>
          </a:p>
          <a:p>
            <a:pPr marL="469900" marR="33655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dirty="0" sz="1700" spc="-20" b="1">
                <a:latin typeface="Cambria"/>
                <a:cs typeface="Cambria"/>
              </a:rPr>
              <a:t>Volume: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Large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quantities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of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oilseed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30">
                <a:latin typeface="Cambria"/>
                <a:cs typeface="Cambria"/>
              </a:rPr>
              <a:t>by-</a:t>
            </a:r>
            <a:r>
              <a:rPr dirty="0" sz="1700">
                <a:latin typeface="Cambria"/>
                <a:cs typeface="Cambria"/>
              </a:rPr>
              <a:t>products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are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produced,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but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there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is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no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unified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system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to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manage </a:t>
            </a:r>
            <a:r>
              <a:rPr dirty="0" sz="1700" spc="-30">
                <a:latin typeface="Cambria"/>
                <a:cs typeface="Cambria"/>
              </a:rPr>
              <a:t>supply,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demand,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and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pricing.</a:t>
            </a:r>
            <a:endParaRPr sz="1700">
              <a:latin typeface="Cambria"/>
              <a:cs typeface="Cambria"/>
            </a:endParaRPr>
          </a:p>
          <a:p>
            <a:pPr marL="469900" marR="508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dirty="0" sz="1700" b="1">
                <a:latin typeface="Cambria"/>
                <a:cs typeface="Cambria"/>
              </a:rPr>
              <a:t>Manual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Bottleneck: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Trading,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contract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management,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and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price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discovery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are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mostly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manual,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causing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delays </a:t>
            </a:r>
            <a:r>
              <a:rPr dirty="0" sz="1700">
                <a:latin typeface="Cambria"/>
                <a:cs typeface="Cambria"/>
              </a:rPr>
              <a:t>and</a:t>
            </a:r>
            <a:r>
              <a:rPr dirty="0" sz="1700" spc="-1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inefficiencies.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700" b="1">
                <a:latin typeface="Cambria"/>
                <a:cs typeface="Cambria"/>
              </a:rPr>
              <a:t>Insight</a:t>
            </a:r>
            <a:r>
              <a:rPr dirty="0" sz="1700" spc="-5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Loss: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Farmers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lack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real-</a:t>
            </a:r>
            <a:r>
              <a:rPr dirty="0" sz="1700">
                <a:latin typeface="Cambria"/>
                <a:cs typeface="Cambria"/>
              </a:rPr>
              <a:t>time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visibility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into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market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prices,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buyer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demand,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and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export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opportunities.</a:t>
            </a:r>
            <a:endParaRPr sz="1700">
              <a:latin typeface="Cambria"/>
              <a:cs typeface="Cambria"/>
            </a:endParaRPr>
          </a:p>
          <a:p>
            <a:pPr marL="469900" marR="66802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dirty="0" sz="1700" spc="-10" b="1">
                <a:latin typeface="Cambria"/>
                <a:cs typeface="Cambria"/>
              </a:rPr>
              <a:t>Market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Distortion: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Global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supply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disruptions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create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price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volatility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where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consumer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prices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rise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 spc="-25">
                <a:latin typeface="Cambria"/>
                <a:cs typeface="Cambria"/>
              </a:rPr>
              <a:t>but </a:t>
            </a:r>
            <a:r>
              <a:rPr dirty="0" sz="1700" spc="-10">
                <a:latin typeface="Cambria"/>
                <a:cs typeface="Cambria"/>
              </a:rPr>
              <a:t>farm-</a:t>
            </a:r>
            <a:r>
              <a:rPr dirty="0" sz="1700">
                <a:latin typeface="Cambria"/>
                <a:cs typeface="Cambria"/>
              </a:rPr>
              <a:t>gate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prices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remain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20">
                <a:latin typeface="Cambria"/>
                <a:cs typeface="Cambria"/>
              </a:rPr>
              <a:t>low.</a:t>
            </a:r>
            <a:endParaRPr sz="1700">
              <a:latin typeface="Cambria"/>
              <a:cs typeface="Cambria"/>
            </a:endParaRPr>
          </a:p>
          <a:p>
            <a:pPr marL="469900" marR="37465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dirty="0" sz="1700" b="1">
                <a:latin typeface="Cambria"/>
                <a:cs typeface="Cambria"/>
              </a:rPr>
              <a:t>Need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for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Timeliness: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Farmers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require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fast,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transparent,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and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secure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digital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transactions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instead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of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 spc="-20">
                <a:latin typeface="Cambria"/>
                <a:cs typeface="Cambria"/>
              </a:rPr>
              <a:t>slow </a:t>
            </a:r>
            <a:r>
              <a:rPr dirty="0" sz="1700">
                <a:latin typeface="Cambria"/>
                <a:cs typeface="Cambria"/>
              </a:rPr>
              <a:t>traditional</a:t>
            </a:r>
            <a:r>
              <a:rPr dirty="0" sz="1700" spc="-8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marketing</a:t>
            </a:r>
            <a:r>
              <a:rPr dirty="0" sz="1700" spc="-7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channels.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1721" y="970312"/>
            <a:ext cx="10238740" cy="5073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3855" marR="5080" indent="-35179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</a:tabLst>
            </a:pPr>
            <a:r>
              <a:rPr dirty="0" sz="1600" b="1">
                <a:latin typeface="Cambria"/>
                <a:cs typeface="Cambria"/>
              </a:rPr>
              <a:t>Digital</a:t>
            </a:r>
            <a:r>
              <a:rPr dirty="0" sz="1600" spc="-55" b="1">
                <a:latin typeface="Cambria"/>
                <a:cs typeface="Cambria"/>
              </a:rPr>
              <a:t> </a:t>
            </a:r>
            <a:r>
              <a:rPr dirty="0" sz="1600" spc="-10" b="1">
                <a:latin typeface="Cambria"/>
                <a:cs typeface="Cambria"/>
              </a:rPr>
              <a:t>Market</a:t>
            </a:r>
            <a:r>
              <a:rPr dirty="0" sz="1600" spc="-55" b="1">
                <a:latin typeface="Cambria"/>
                <a:cs typeface="Cambria"/>
              </a:rPr>
              <a:t> </a:t>
            </a:r>
            <a:r>
              <a:rPr dirty="0" sz="1600" spc="-10" b="1">
                <a:latin typeface="Cambria"/>
                <a:cs typeface="Cambria"/>
              </a:rPr>
              <a:t>Integration:</a:t>
            </a:r>
            <a:r>
              <a:rPr dirty="0" sz="1600" spc="-45" b="1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Build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a</a:t>
            </a:r>
            <a:r>
              <a:rPr dirty="0" sz="1600" spc="-5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unified</a:t>
            </a:r>
            <a:r>
              <a:rPr dirty="0" sz="1600" spc="-5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digital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platform</a:t>
            </a:r>
            <a:r>
              <a:rPr dirty="0" sz="1600" spc="-5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to</a:t>
            </a:r>
            <a:r>
              <a:rPr dirty="0" sz="1600" spc="-5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connect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farmers,</a:t>
            </a:r>
            <a:r>
              <a:rPr dirty="0" sz="1600" spc="-5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processors,</a:t>
            </a:r>
            <a:r>
              <a:rPr dirty="0" sz="1600" spc="-5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buyers,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and</a:t>
            </a:r>
            <a:r>
              <a:rPr dirty="0" sz="1600" spc="-5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exporters </a:t>
            </a:r>
            <a:r>
              <a:rPr dirty="0" sz="1600">
                <a:latin typeface="Cambria"/>
                <a:cs typeface="Cambria"/>
              </a:rPr>
              <a:t>of</a:t>
            </a:r>
            <a:r>
              <a:rPr dirty="0" sz="1600" spc="-2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oilseed</a:t>
            </a:r>
            <a:r>
              <a:rPr dirty="0" sz="1600" spc="-20">
                <a:latin typeface="Cambria"/>
                <a:cs typeface="Cambria"/>
              </a:rPr>
              <a:t> </a:t>
            </a:r>
            <a:r>
              <a:rPr dirty="0" sz="1600" spc="-30">
                <a:latin typeface="Cambria"/>
                <a:cs typeface="Cambria"/>
              </a:rPr>
              <a:t>by-</a:t>
            </a:r>
            <a:r>
              <a:rPr dirty="0" sz="1600" spc="-10">
                <a:latin typeface="Cambria"/>
                <a:cs typeface="Cambria"/>
              </a:rPr>
              <a:t>products.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592455" indent="-351790">
              <a:lnSpc>
                <a:spcPct val="114999"/>
              </a:lnSpc>
              <a:buFont typeface="Arial"/>
              <a:buChar char="●"/>
              <a:tabLst>
                <a:tab pos="363855" algn="l"/>
              </a:tabLst>
            </a:pPr>
            <a:r>
              <a:rPr dirty="0" sz="1600" spc="-55" b="1">
                <a:latin typeface="Cambria"/>
                <a:cs typeface="Cambria"/>
              </a:rPr>
              <a:t>Real-</a:t>
            </a:r>
            <a:r>
              <a:rPr dirty="0" sz="1600" b="1">
                <a:latin typeface="Cambria"/>
                <a:cs typeface="Cambria"/>
              </a:rPr>
              <a:t>Time</a:t>
            </a:r>
            <a:r>
              <a:rPr dirty="0" sz="1600" spc="-50" b="1">
                <a:latin typeface="Cambria"/>
                <a:cs typeface="Cambria"/>
              </a:rPr>
              <a:t> </a:t>
            </a:r>
            <a:r>
              <a:rPr dirty="0" sz="1600" b="1">
                <a:latin typeface="Cambria"/>
                <a:cs typeface="Cambria"/>
              </a:rPr>
              <a:t>Price</a:t>
            </a:r>
            <a:r>
              <a:rPr dirty="0" sz="1600" spc="-45" b="1">
                <a:latin typeface="Cambria"/>
                <a:cs typeface="Cambria"/>
              </a:rPr>
              <a:t> </a:t>
            </a:r>
            <a:r>
              <a:rPr dirty="0" sz="1600" b="1">
                <a:latin typeface="Cambria"/>
                <a:cs typeface="Cambria"/>
              </a:rPr>
              <a:t>&amp;</a:t>
            </a:r>
            <a:r>
              <a:rPr dirty="0" sz="1600" spc="-45" b="1">
                <a:latin typeface="Cambria"/>
                <a:cs typeface="Cambria"/>
              </a:rPr>
              <a:t> </a:t>
            </a:r>
            <a:r>
              <a:rPr dirty="0" sz="1600" b="1">
                <a:latin typeface="Cambria"/>
                <a:cs typeface="Cambria"/>
              </a:rPr>
              <a:t>Demand</a:t>
            </a:r>
            <a:r>
              <a:rPr dirty="0" sz="1600" spc="-45" b="1">
                <a:latin typeface="Cambria"/>
                <a:cs typeface="Cambria"/>
              </a:rPr>
              <a:t> </a:t>
            </a:r>
            <a:r>
              <a:rPr dirty="0" sz="1600" spc="-10" b="1">
                <a:latin typeface="Cambria"/>
                <a:cs typeface="Cambria"/>
              </a:rPr>
              <a:t>Tracking:</a:t>
            </a:r>
            <a:r>
              <a:rPr dirty="0" sz="1600" spc="-20" b="1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Provide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live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market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prices,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buyer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demand,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and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stock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availability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 spc="-25">
                <a:latin typeface="Cambria"/>
                <a:cs typeface="Cambria"/>
              </a:rPr>
              <a:t>for </a:t>
            </a:r>
            <a:r>
              <a:rPr dirty="0" sz="1600" spc="-10">
                <a:latin typeface="Cambria"/>
                <a:cs typeface="Cambria"/>
              </a:rPr>
              <a:t>soymeal,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oil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cakes,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husk,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and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bran.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indent="-351155">
              <a:lnSpc>
                <a:spcPct val="100000"/>
              </a:lnSpc>
              <a:buFont typeface="Arial"/>
              <a:buChar char="●"/>
              <a:tabLst>
                <a:tab pos="363855" algn="l"/>
              </a:tabLst>
            </a:pPr>
            <a:r>
              <a:rPr dirty="0" sz="1600" b="1">
                <a:latin typeface="Cambria"/>
                <a:cs typeface="Cambria"/>
              </a:rPr>
              <a:t>Price</a:t>
            </a:r>
            <a:r>
              <a:rPr dirty="0" sz="1600" spc="-40" b="1">
                <a:latin typeface="Cambria"/>
                <a:cs typeface="Cambria"/>
              </a:rPr>
              <a:t> </a:t>
            </a:r>
            <a:r>
              <a:rPr dirty="0" sz="1600" spc="-20" b="1">
                <a:latin typeface="Cambria"/>
                <a:cs typeface="Cambria"/>
              </a:rPr>
              <a:t>Forecasting:</a:t>
            </a:r>
            <a:r>
              <a:rPr dirty="0" sz="1600" spc="-25" b="1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Use</a:t>
            </a:r>
            <a:r>
              <a:rPr dirty="0" sz="1600" spc="-35">
                <a:latin typeface="Cambria"/>
                <a:cs typeface="Cambria"/>
              </a:rPr>
              <a:t> </a:t>
            </a:r>
            <a:r>
              <a:rPr dirty="0" sz="1600" spc="-20">
                <a:latin typeface="Cambria"/>
                <a:cs typeface="Cambria"/>
              </a:rPr>
              <a:t>AI-</a:t>
            </a:r>
            <a:r>
              <a:rPr dirty="0" sz="1600">
                <a:latin typeface="Cambria"/>
                <a:cs typeface="Cambria"/>
              </a:rPr>
              <a:t>based</a:t>
            </a:r>
            <a:r>
              <a:rPr dirty="0" sz="1600" spc="-3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analytics</a:t>
            </a:r>
            <a:r>
              <a:rPr dirty="0" sz="1600" spc="-4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to</a:t>
            </a:r>
            <a:r>
              <a:rPr dirty="0" sz="1600" spc="-3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predict</a:t>
            </a:r>
            <a:r>
              <a:rPr dirty="0" sz="1600" spc="-3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price</a:t>
            </a:r>
            <a:r>
              <a:rPr dirty="0" sz="1600" spc="-4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trends</a:t>
            </a:r>
            <a:r>
              <a:rPr dirty="0" sz="1600" spc="-3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and</a:t>
            </a:r>
            <a:r>
              <a:rPr dirty="0" sz="1600" spc="-40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market</a:t>
            </a:r>
            <a:r>
              <a:rPr dirty="0" sz="1600" spc="-3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volatility.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51435" indent="-351790">
              <a:lnSpc>
                <a:spcPct val="114999"/>
              </a:lnSpc>
              <a:spcBef>
                <a:spcPts val="5"/>
              </a:spcBef>
              <a:buFont typeface="Arial"/>
              <a:buChar char="●"/>
              <a:tabLst>
                <a:tab pos="363855" algn="l"/>
              </a:tabLst>
            </a:pPr>
            <a:r>
              <a:rPr dirty="0" sz="1600" b="1">
                <a:latin typeface="Cambria"/>
                <a:cs typeface="Cambria"/>
              </a:rPr>
              <a:t>Direct</a:t>
            </a:r>
            <a:r>
              <a:rPr dirty="0" sz="1600" spc="-50" b="1">
                <a:latin typeface="Cambria"/>
                <a:cs typeface="Cambria"/>
              </a:rPr>
              <a:t> </a:t>
            </a:r>
            <a:r>
              <a:rPr dirty="0" sz="1600" spc="-10" b="1">
                <a:latin typeface="Cambria"/>
                <a:cs typeface="Cambria"/>
              </a:rPr>
              <a:t>Trading</a:t>
            </a:r>
            <a:r>
              <a:rPr dirty="0" sz="1600" spc="-50" b="1">
                <a:latin typeface="Cambria"/>
                <a:cs typeface="Cambria"/>
              </a:rPr>
              <a:t> </a:t>
            </a:r>
            <a:r>
              <a:rPr dirty="0" sz="1600" spc="-10" b="1">
                <a:latin typeface="Cambria"/>
                <a:cs typeface="Cambria"/>
              </a:rPr>
              <a:t>Enablement:</a:t>
            </a:r>
            <a:r>
              <a:rPr dirty="0" sz="1600" spc="-35" b="1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Reduce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dependency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on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middlemen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by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enabling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secure,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direct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transactions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between farmers</a:t>
            </a:r>
            <a:r>
              <a:rPr dirty="0" sz="1600" spc="-4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and</a:t>
            </a:r>
            <a:r>
              <a:rPr dirty="0" sz="1600" spc="-3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buyers.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263525" indent="-351790">
              <a:lnSpc>
                <a:spcPct val="114999"/>
              </a:lnSpc>
              <a:buFont typeface="Arial"/>
              <a:buChar char="●"/>
              <a:tabLst>
                <a:tab pos="363855" algn="l"/>
              </a:tabLst>
            </a:pPr>
            <a:r>
              <a:rPr dirty="0" sz="1600" b="1">
                <a:latin typeface="Cambria"/>
                <a:cs typeface="Cambria"/>
              </a:rPr>
              <a:t>Export</a:t>
            </a:r>
            <a:r>
              <a:rPr dirty="0" sz="1600" spc="-55" b="1">
                <a:latin typeface="Cambria"/>
                <a:cs typeface="Cambria"/>
              </a:rPr>
              <a:t> </a:t>
            </a:r>
            <a:r>
              <a:rPr dirty="0" sz="1600" b="1">
                <a:latin typeface="Cambria"/>
                <a:cs typeface="Cambria"/>
              </a:rPr>
              <a:t>Opportunity</a:t>
            </a:r>
            <a:r>
              <a:rPr dirty="0" sz="1600" spc="-50" b="1">
                <a:latin typeface="Cambria"/>
                <a:cs typeface="Cambria"/>
              </a:rPr>
              <a:t> </a:t>
            </a:r>
            <a:r>
              <a:rPr dirty="0" sz="1600" spc="-10" b="1">
                <a:latin typeface="Cambria"/>
                <a:cs typeface="Cambria"/>
              </a:rPr>
              <a:t>Identification:</a:t>
            </a:r>
            <a:r>
              <a:rPr dirty="0" sz="1600" spc="-30" b="1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Identify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global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demand</a:t>
            </a:r>
            <a:r>
              <a:rPr dirty="0" sz="1600" spc="-5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and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match</a:t>
            </a:r>
            <a:r>
              <a:rPr dirty="0" sz="1600" spc="-5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surplus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 spc="-30">
                <a:latin typeface="Cambria"/>
                <a:cs typeface="Cambria"/>
              </a:rPr>
              <a:t>by-</a:t>
            </a:r>
            <a:r>
              <a:rPr dirty="0" sz="1600">
                <a:latin typeface="Cambria"/>
                <a:cs typeface="Cambria"/>
              </a:rPr>
              <a:t>products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with</a:t>
            </a:r>
            <a:r>
              <a:rPr dirty="0" sz="1600" spc="-5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international buyers.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indent="-351155">
              <a:lnSpc>
                <a:spcPct val="100000"/>
              </a:lnSpc>
              <a:buFont typeface="Arial"/>
              <a:buChar char="●"/>
              <a:tabLst>
                <a:tab pos="363855" algn="l"/>
              </a:tabLst>
            </a:pPr>
            <a:r>
              <a:rPr dirty="0" sz="1600" b="1">
                <a:latin typeface="Cambria"/>
                <a:cs typeface="Cambria"/>
              </a:rPr>
              <a:t>Smart</a:t>
            </a:r>
            <a:r>
              <a:rPr dirty="0" sz="1600" spc="-55" b="1">
                <a:latin typeface="Cambria"/>
                <a:cs typeface="Cambria"/>
              </a:rPr>
              <a:t> </a:t>
            </a:r>
            <a:r>
              <a:rPr dirty="0" sz="1600" spc="-10" b="1">
                <a:latin typeface="Cambria"/>
                <a:cs typeface="Cambria"/>
              </a:rPr>
              <a:t>Contracts:</a:t>
            </a:r>
            <a:r>
              <a:rPr dirty="0" sz="1600" spc="-40" b="1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Enable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secure,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transparent,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and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 spc="-20">
                <a:latin typeface="Cambria"/>
                <a:cs typeface="Cambria"/>
              </a:rPr>
              <a:t>tamper-</a:t>
            </a:r>
            <a:r>
              <a:rPr dirty="0" sz="1600">
                <a:latin typeface="Cambria"/>
                <a:cs typeface="Cambria"/>
              </a:rPr>
              <a:t>proof</a:t>
            </a:r>
            <a:r>
              <a:rPr dirty="0" sz="1600" spc="-55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digital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transactions.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840105" indent="-351790">
              <a:lnSpc>
                <a:spcPct val="114999"/>
              </a:lnSpc>
              <a:spcBef>
                <a:spcPts val="5"/>
              </a:spcBef>
              <a:buFont typeface="Arial"/>
              <a:buChar char="●"/>
              <a:tabLst>
                <a:tab pos="363855" algn="l"/>
              </a:tabLst>
            </a:pPr>
            <a:r>
              <a:rPr dirty="0" sz="1600" spc="-10" b="1">
                <a:latin typeface="Cambria"/>
                <a:cs typeface="Cambria"/>
              </a:rPr>
              <a:t>Dashboard</a:t>
            </a:r>
            <a:r>
              <a:rPr dirty="0" sz="1600" spc="-45" b="1">
                <a:latin typeface="Cambria"/>
                <a:cs typeface="Cambria"/>
              </a:rPr>
              <a:t> </a:t>
            </a:r>
            <a:r>
              <a:rPr dirty="0" sz="1600" b="1">
                <a:latin typeface="Cambria"/>
                <a:cs typeface="Cambria"/>
              </a:rPr>
              <a:t>&amp;</a:t>
            </a:r>
            <a:r>
              <a:rPr dirty="0" sz="1600" spc="-40" b="1">
                <a:latin typeface="Cambria"/>
                <a:cs typeface="Cambria"/>
              </a:rPr>
              <a:t> </a:t>
            </a:r>
            <a:r>
              <a:rPr dirty="0" sz="1600" b="1">
                <a:latin typeface="Cambria"/>
                <a:cs typeface="Cambria"/>
              </a:rPr>
              <a:t>Visualization:</a:t>
            </a:r>
            <a:r>
              <a:rPr dirty="0" sz="1600" spc="-25" b="1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Provide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interactive</a:t>
            </a:r>
            <a:r>
              <a:rPr dirty="0" sz="1600" spc="-40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dashboards</a:t>
            </a:r>
            <a:r>
              <a:rPr dirty="0" sz="1600" spc="-4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for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farmers</a:t>
            </a:r>
            <a:r>
              <a:rPr dirty="0" sz="1600" spc="-4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and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officials</a:t>
            </a:r>
            <a:r>
              <a:rPr dirty="0" sz="1600" spc="-40">
                <a:latin typeface="Cambria"/>
                <a:cs typeface="Cambria"/>
              </a:rPr>
              <a:t> </a:t>
            </a:r>
            <a:r>
              <a:rPr dirty="0" sz="1600">
                <a:latin typeface="Cambria"/>
                <a:cs typeface="Cambria"/>
              </a:rPr>
              <a:t>to</a:t>
            </a:r>
            <a:r>
              <a:rPr dirty="0" sz="1600" spc="-40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monitor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market performance.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Background</a:t>
            </a:r>
            <a:r>
              <a:rPr dirty="0" spc="-135"/>
              <a:t> </a:t>
            </a:r>
            <a:r>
              <a:rPr dirty="0"/>
              <a:t>&amp;</a:t>
            </a:r>
            <a:r>
              <a:rPr dirty="0" spc="-135"/>
              <a:t> </a:t>
            </a:r>
            <a:r>
              <a:rPr dirty="0"/>
              <a:t>Related</a:t>
            </a:r>
            <a:r>
              <a:rPr dirty="0" spc="-130"/>
              <a:t> </a:t>
            </a:r>
            <a:r>
              <a:rPr dirty="0" spc="-20"/>
              <a:t>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8900" marR="23495">
              <a:lnSpc>
                <a:spcPct val="100000"/>
              </a:lnSpc>
              <a:spcBef>
                <a:spcPts val="100"/>
              </a:spcBef>
            </a:pPr>
            <a:r>
              <a:rPr dirty="0" sz="1700"/>
              <a:t>Oilseed</a:t>
            </a:r>
            <a:r>
              <a:rPr dirty="0" sz="1700" spc="-45"/>
              <a:t> </a:t>
            </a:r>
            <a:r>
              <a:rPr dirty="0" sz="1700"/>
              <a:t>value</a:t>
            </a:r>
            <a:r>
              <a:rPr dirty="0" sz="1700" spc="-45"/>
              <a:t> </a:t>
            </a:r>
            <a:r>
              <a:rPr dirty="0" sz="1700"/>
              <a:t>chain</a:t>
            </a:r>
            <a:r>
              <a:rPr dirty="0" sz="1700" spc="-40"/>
              <a:t> </a:t>
            </a:r>
            <a:r>
              <a:rPr dirty="0" sz="1700"/>
              <a:t>platforms</a:t>
            </a:r>
            <a:r>
              <a:rPr dirty="0" sz="1700" spc="-45"/>
              <a:t> </a:t>
            </a:r>
            <a:r>
              <a:rPr dirty="0" sz="1700"/>
              <a:t>allow</a:t>
            </a:r>
            <a:r>
              <a:rPr dirty="0" sz="1700" spc="-40"/>
              <a:t> </a:t>
            </a:r>
            <a:r>
              <a:rPr dirty="0" sz="1700"/>
              <a:t>farmers,</a:t>
            </a:r>
            <a:r>
              <a:rPr dirty="0" sz="1700" spc="-45"/>
              <a:t> </a:t>
            </a:r>
            <a:r>
              <a:rPr dirty="0" sz="1700"/>
              <a:t>processors,</a:t>
            </a:r>
            <a:r>
              <a:rPr dirty="0" sz="1700" spc="-40"/>
              <a:t> </a:t>
            </a:r>
            <a:r>
              <a:rPr dirty="0" sz="1700"/>
              <a:t>and</a:t>
            </a:r>
            <a:r>
              <a:rPr dirty="0" sz="1700" spc="-45"/>
              <a:t> </a:t>
            </a:r>
            <a:r>
              <a:rPr dirty="0" sz="1700" spc="-10"/>
              <a:t>buyers</a:t>
            </a:r>
            <a:r>
              <a:rPr dirty="0" sz="1700" spc="-45"/>
              <a:t> </a:t>
            </a:r>
            <a:r>
              <a:rPr dirty="0" sz="1700"/>
              <a:t>to</a:t>
            </a:r>
            <a:r>
              <a:rPr dirty="0" sz="1700" spc="-40"/>
              <a:t> </a:t>
            </a:r>
            <a:r>
              <a:rPr dirty="0" sz="1700"/>
              <a:t>trade</a:t>
            </a:r>
            <a:r>
              <a:rPr dirty="0" sz="1700" spc="-20"/>
              <a:t> </a:t>
            </a:r>
            <a:r>
              <a:rPr dirty="0" sz="1700" b="1">
                <a:latin typeface="Cambria"/>
                <a:cs typeface="Cambria"/>
              </a:rPr>
              <a:t>oilseed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spc="-35" b="1">
                <a:latin typeface="Cambria"/>
                <a:cs typeface="Cambria"/>
              </a:rPr>
              <a:t>by-</a:t>
            </a:r>
            <a:r>
              <a:rPr dirty="0" sz="1700" b="1">
                <a:latin typeface="Cambria"/>
                <a:cs typeface="Cambria"/>
              </a:rPr>
              <a:t>products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/>
              <a:t>such</a:t>
            </a:r>
            <a:r>
              <a:rPr dirty="0" sz="1700" spc="-45"/>
              <a:t> </a:t>
            </a:r>
            <a:r>
              <a:rPr dirty="0" sz="1700" spc="-25"/>
              <a:t>as </a:t>
            </a:r>
            <a:r>
              <a:rPr dirty="0" sz="1700" spc="-10" b="1">
                <a:latin typeface="Cambria"/>
                <a:cs typeface="Cambria"/>
              </a:rPr>
              <a:t>soymeal,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oil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cakes,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husk,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and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bran</a:t>
            </a:r>
            <a:r>
              <a:rPr dirty="0" sz="1700"/>
              <a:t>.</a:t>
            </a:r>
            <a:r>
              <a:rPr dirty="0" sz="1700" spc="-30"/>
              <a:t> </a:t>
            </a:r>
            <a:r>
              <a:rPr dirty="0" sz="1700"/>
              <a:t>While</a:t>
            </a:r>
            <a:r>
              <a:rPr dirty="0" sz="1700" spc="-35"/>
              <a:t> </a:t>
            </a:r>
            <a:r>
              <a:rPr dirty="0" sz="1700"/>
              <a:t>this</a:t>
            </a:r>
            <a:r>
              <a:rPr dirty="0" sz="1700" spc="-30"/>
              <a:t> </a:t>
            </a:r>
            <a:r>
              <a:rPr dirty="0" sz="1700" spc="-10"/>
              <a:t>improves</a:t>
            </a:r>
            <a:r>
              <a:rPr dirty="0" sz="1700" spc="-35"/>
              <a:t> </a:t>
            </a:r>
            <a:r>
              <a:rPr dirty="0" sz="1700"/>
              <a:t>market</a:t>
            </a:r>
            <a:r>
              <a:rPr dirty="0" sz="1700" spc="-35"/>
              <a:t> </a:t>
            </a:r>
            <a:r>
              <a:rPr dirty="0" sz="1700"/>
              <a:t>access</a:t>
            </a:r>
            <a:r>
              <a:rPr dirty="0" sz="1700" spc="-30"/>
              <a:t> </a:t>
            </a:r>
            <a:r>
              <a:rPr dirty="0" sz="1700"/>
              <a:t>and</a:t>
            </a:r>
            <a:r>
              <a:rPr dirty="0" sz="1700" spc="-35"/>
              <a:t> </a:t>
            </a:r>
            <a:r>
              <a:rPr dirty="0" sz="1700" spc="-20"/>
              <a:t>transparency,</a:t>
            </a:r>
            <a:r>
              <a:rPr dirty="0" sz="1700" spc="-30"/>
              <a:t> </a:t>
            </a:r>
            <a:r>
              <a:rPr dirty="0" sz="1700"/>
              <a:t>it</a:t>
            </a:r>
            <a:r>
              <a:rPr dirty="0" sz="1700" spc="-35"/>
              <a:t> </a:t>
            </a:r>
            <a:r>
              <a:rPr dirty="0" sz="1700"/>
              <a:t>also</a:t>
            </a:r>
            <a:r>
              <a:rPr dirty="0" sz="1700" spc="-35"/>
              <a:t> </a:t>
            </a:r>
            <a:r>
              <a:rPr dirty="0" sz="1700"/>
              <a:t>results</a:t>
            </a:r>
            <a:r>
              <a:rPr dirty="0" sz="1700" spc="-30"/>
              <a:t> </a:t>
            </a:r>
            <a:r>
              <a:rPr dirty="0" sz="1700"/>
              <a:t>in </a:t>
            </a:r>
            <a:r>
              <a:rPr dirty="0" sz="1700" spc="-10" b="1">
                <a:latin typeface="Cambria"/>
                <a:cs typeface="Cambria"/>
              </a:rPr>
              <a:t>large </a:t>
            </a:r>
            <a:r>
              <a:rPr dirty="0" sz="1700" b="1">
                <a:latin typeface="Cambria"/>
                <a:cs typeface="Cambria"/>
              </a:rPr>
              <a:t>volumes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of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unstructured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market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data</a:t>
            </a:r>
            <a:r>
              <a:rPr dirty="0" sz="1700"/>
              <a:t>,</a:t>
            </a:r>
            <a:r>
              <a:rPr dirty="0" sz="1700" spc="-45"/>
              <a:t> </a:t>
            </a:r>
            <a:r>
              <a:rPr dirty="0" sz="1700"/>
              <a:t>including</a:t>
            </a:r>
            <a:r>
              <a:rPr dirty="0" sz="1700" spc="-45"/>
              <a:t> </a:t>
            </a:r>
            <a:r>
              <a:rPr dirty="0" sz="1700"/>
              <a:t>price</a:t>
            </a:r>
            <a:r>
              <a:rPr dirty="0" sz="1700" spc="-40"/>
              <a:t> </a:t>
            </a:r>
            <a:r>
              <a:rPr dirty="0" sz="1700"/>
              <a:t>updates,</a:t>
            </a:r>
            <a:r>
              <a:rPr dirty="0" sz="1700" spc="-45"/>
              <a:t> </a:t>
            </a:r>
            <a:r>
              <a:rPr dirty="0" sz="1700"/>
              <a:t>demand</a:t>
            </a:r>
            <a:r>
              <a:rPr dirty="0" sz="1700" spc="-45"/>
              <a:t> </a:t>
            </a:r>
            <a:r>
              <a:rPr dirty="0" sz="1700"/>
              <a:t>listings,</a:t>
            </a:r>
            <a:r>
              <a:rPr dirty="0" sz="1700" spc="-45"/>
              <a:t> </a:t>
            </a:r>
            <a:r>
              <a:rPr dirty="0" sz="1700"/>
              <a:t>and</a:t>
            </a:r>
            <a:r>
              <a:rPr dirty="0" sz="1700" spc="-45"/>
              <a:t> </a:t>
            </a:r>
            <a:r>
              <a:rPr dirty="0" sz="1700"/>
              <a:t>transaction</a:t>
            </a:r>
            <a:r>
              <a:rPr dirty="0" sz="1700" spc="-45"/>
              <a:t> </a:t>
            </a:r>
            <a:r>
              <a:rPr dirty="0" sz="1700" spc="-10"/>
              <a:t>records, </a:t>
            </a:r>
            <a:r>
              <a:rPr dirty="0" sz="1700"/>
              <a:t>making</a:t>
            </a:r>
            <a:r>
              <a:rPr dirty="0" sz="1700" spc="-40"/>
              <a:t> </a:t>
            </a:r>
            <a:r>
              <a:rPr dirty="0" sz="1700"/>
              <a:t>manual</a:t>
            </a:r>
            <a:r>
              <a:rPr dirty="0" sz="1700" spc="-35"/>
              <a:t> </a:t>
            </a:r>
            <a:r>
              <a:rPr dirty="0" sz="1700"/>
              <a:t>tracking</a:t>
            </a:r>
            <a:r>
              <a:rPr dirty="0" sz="1700" spc="-40"/>
              <a:t> </a:t>
            </a:r>
            <a:r>
              <a:rPr dirty="0" sz="1700"/>
              <a:t>and</a:t>
            </a:r>
            <a:r>
              <a:rPr dirty="0" sz="1700" spc="-35"/>
              <a:t> </a:t>
            </a:r>
            <a:r>
              <a:rPr dirty="0" sz="1700"/>
              <a:t>analysis</a:t>
            </a:r>
            <a:r>
              <a:rPr dirty="0" sz="1700" spc="-35"/>
              <a:t> </a:t>
            </a:r>
            <a:r>
              <a:rPr dirty="0" sz="1700" spc="-10"/>
              <a:t>time-</a:t>
            </a:r>
            <a:r>
              <a:rPr dirty="0" sz="1700"/>
              <a:t>consuming</a:t>
            </a:r>
            <a:r>
              <a:rPr dirty="0" sz="1700" spc="-40"/>
              <a:t> </a:t>
            </a:r>
            <a:r>
              <a:rPr dirty="0" sz="1700"/>
              <a:t>and</a:t>
            </a:r>
            <a:r>
              <a:rPr dirty="0" sz="1700" spc="-35"/>
              <a:t> </a:t>
            </a:r>
            <a:r>
              <a:rPr dirty="0" sz="1700" spc="-10"/>
              <a:t>error-prone.</a:t>
            </a:r>
            <a:endParaRPr sz="1700">
              <a:latin typeface="Cambria"/>
              <a:cs typeface="Cambria"/>
            </a:endParaRPr>
          </a:p>
          <a:p>
            <a:pPr marL="88900" marR="222885">
              <a:lnSpc>
                <a:spcPct val="100000"/>
              </a:lnSpc>
              <a:spcBef>
                <a:spcPts val="1200"/>
              </a:spcBef>
            </a:pPr>
            <a:r>
              <a:rPr dirty="0" sz="1700" spc="-20"/>
              <a:t>Globally,</a:t>
            </a:r>
            <a:r>
              <a:rPr dirty="0" sz="1700" spc="-45"/>
              <a:t> </a:t>
            </a:r>
            <a:r>
              <a:rPr dirty="0" sz="1700" spc="-10"/>
              <a:t>governments</a:t>
            </a:r>
            <a:r>
              <a:rPr dirty="0" sz="1700" spc="-40"/>
              <a:t> </a:t>
            </a:r>
            <a:r>
              <a:rPr dirty="0" sz="1700"/>
              <a:t>and</a:t>
            </a:r>
            <a:r>
              <a:rPr dirty="0" sz="1700" spc="-45"/>
              <a:t> </a:t>
            </a:r>
            <a:r>
              <a:rPr dirty="0" sz="1700" spc="-10"/>
              <a:t>agri-</a:t>
            </a:r>
            <a:r>
              <a:rPr dirty="0" sz="1700"/>
              <a:t>tech</a:t>
            </a:r>
            <a:r>
              <a:rPr dirty="0" sz="1700" spc="-40"/>
              <a:t> </a:t>
            </a:r>
            <a:r>
              <a:rPr dirty="0" sz="1700"/>
              <a:t>organizations</a:t>
            </a:r>
            <a:r>
              <a:rPr dirty="0" sz="1700" spc="-45"/>
              <a:t> </a:t>
            </a:r>
            <a:r>
              <a:rPr dirty="0" sz="1700"/>
              <a:t>have</a:t>
            </a:r>
            <a:r>
              <a:rPr dirty="0" sz="1700" spc="-40"/>
              <a:t> </a:t>
            </a:r>
            <a:r>
              <a:rPr dirty="0" sz="1700"/>
              <a:t>started</a:t>
            </a:r>
            <a:r>
              <a:rPr dirty="0" sz="1700" spc="-45"/>
              <a:t> </a:t>
            </a:r>
            <a:r>
              <a:rPr dirty="0" sz="1700"/>
              <a:t>adopting</a:t>
            </a:r>
            <a:r>
              <a:rPr dirty="0" sz="1700" spc="-15"/>
              <a:t> </a:t>
            </a:r>
            <a:r>
              <a:rPr dirty="0" sz="1700" spc="-10" b="1">
                <a:latin typeface="Cambria"/>
                <a:cs typeface="Cambria"/>
              </a:rPr>
              <a:t>Artificial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Intelligence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(AI),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Machine </a:t>
            </a:r>
            <a:r>
              <a:rPr dirty="0" sz="1700" b="1">
                <a:latin typeface="Cambria"/>
                <a:cs typeface="Cambria"/>
              </a:rPr>
              <a:t>Learning,</a:t>
            </a:r>
            <a:r>
              <a:rPr dirty="0" sz="1700" spc="-5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and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blockchain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technologies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/>
              <a:t>to</a:t>
            </a:r>
            <a:r>
              <a:rPr dirty="0" sz="1700" spc="-45"/>
              <a:t> </a:t>
            </a:r>
            <a:r>
              <a:rPr dirty="0" sz="1700"/>
              <a:t>analyze</a:t>
            </a:r>
            <a:r>
              <a:rPr dirty="0" sz="1700" spc="-45"/>
              <a:t> </a:t>
            </a:r>
            <a:r>
              <a:rPr dirty="0" sz="1700"/>
              <a:t>market</a:t>
            </a:r>
            <a:r>
              <a:rPr dirty="0" sz="1700" spc="-45"/>
              <a:t> </a:t>
            </a:r>
            <a:r>
              <a:rPr dirty="0" sz="1700"/>
              <a:t>data,</a:t>
            </a:r>
            <a:r>
              <a:rPr dirty="0" sz="1700" spc="-45"/>
              <a:t> </a:t>
            </a:r>
            <a:r>
              <a:rPr dirty="0" sz="1700"/>
              <a:t>predict</a:t>
            </a:r>
            <a:r>
              <a:rPr dirty="0" sz="1700" spc="-45"/>
              <a:t> </a:t>
            </a:r>
            <a:r>
              <a:rPr dirty="0" sz="1700"/>
              <a:t>price</a:t>
            </a:r>
            <a:r>
              <a:rPr dirty="0" sz="1700" spc="-50"/>
              <a:t> </a:t>
            </a:r>
            <a:r>
              <a:rPr dirty="0" sz="1700"/>
              <a:t>trends,</a:t>
            </a:r>
            <a:r>
              <a:rPr dirty="0" sz="1700" spc="-45"/>
              <a:t> </a:t>
            </a:r>
            <a:r>
              <a:rPr dirty="0" sz="1700"/>
              <a:t>and</a:t>
            </a:r>
            <a:r>
              <a:rPr dirty="0" sz="1700" spc="-45"/>
              <a:t> </a:t>
            </a:r>
            <a:r>
              <a:rPr dirty="0" sz="1700"/>
              <a:t>secure</a:t>
            </a:r>
            <a:r>
              <a:rPr dirty="0" sz="1700" spc="-45"/>
              <a:t> </a:t>
            </a:r>
            <a:r>
              <a:rPr dirty="0" sz="1700" spc="-10"/>
              <a:t>agricultural </a:t>
            </a:r>
            <a:r>
              <a:rPr dirty="0" sz="1700"/>
              <a:t>transactions.</a:t>
            </a:r>
            <a:r>
              <a:rPr dirty="0" sz="1700" spc="-50"/>
              <a:t> </a:t>
            </a:r>
            <a:r>
              <a:rPr dirty="0" sz="1700"/>
              <a:t>These</a:t>
            </a:r>
            <a:r>
              <a:rPr dirty="0" sz="1700" spc="-45"/>
              <a:t> </a:t>
            </a:r>
            <a:r>
              <a:rPr dirty="0" sz="1700"/>
              <a:t>technologies</a:t>
            </a:r>
            <a:r>
              <a:rPr dirty="0" sz="1700" spc="-50"/>
              <a:t> </a:t>
            </a:r>
            <a:r>
              <a:rPr dirty="0" sz="1700"/>
              <a:t>help</a:t>
            </a:r>
            <a:r>
              <a:rPr dirty="0" sz="1700" spc="-45"/>
              <a:t> </a:t>
            </a:r>
            <a:r>
              <a:rPr dirty="0" sz="1700"/>
              <a:t>farmers</a:t>
            </a:r>
            <a:r>
              <a:rPr dirty="0" sz="1700" spc="-45"/>
              <a:t> </a:t>
            </a:r>
            <a:r>
              <a:rPr dirty="0" sz="1700"/>
              <a:t>and</a:t>
            </a:r>
            <a:r>
              <a:rPr dirty="0" sz="1700" spc="-50"/>
              <a:t> </a:t>
            </a:r>
            <a:r>
              <a:rPr dirty="0" sz="1700" spc="-10"/>
              <a:t>policymakers</a:t>
            </a:r>
            <a:r>
              <a:rPr dirty="0" sz="1700" spc="-45"/>
              <a:t> </a:t>
            </a:r>
            <a:r>
              <a:rPr dirty="0" sz="1700"/>
              <a:t>better</a:t>
            </a:r>
            <a:r>
              <a:rPr dirty="0" sz="1700" spc="-45"/>
              <a:t> </a:t>
            </a:r>
            <a:r>
              <a:rPr dirty="0" sz="1700"/>
              <a:t>understand</a:t>
            </a:r>
            <a:r>
              <a:rPr dirty="0" sz="1700" spc="-20"/>
              <a:t> </a:t>
            </a:r>
            <a:r>
              <a:rPr dirty="0" sz="1700" spc="-10" b="1">
                <a:latin typeface="Cambria"/>
                <a:cs typeface="Cambria"/>
              </a:rPr>
              <a:t>market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demand,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price </a:t>
            </a:r>
            <a:r>
              <a:rPr dirty="0" sz="1700" spc="-30" b="1">
                <a:latin typeface="Cambria"/>
                <a:cs typeface="Cambria"/>
              </a:rPr>
              <a:t>volatility,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and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trade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opportunities.</a:t>
            </a:r>
            <a:r>
              <a:rPr dirty="0" sz="1700" spc="-10" b="1">
                <a:latin typeface="Cambria"/>
                <a:cs typeface="Cambria"/>
              </a:rPr>
              <a:t> </a:t>
            </a:r>
            <a:r>
              <a:rPr dirty="0" sz="1700"/>
              <a:t>Prior</a:t>
            </a:r>
            <a:r>
              <a:rPr dirty="0" sz="1700" spc="-40"/>
              <a:t> </a:t>
            </a:r>
            <a:r>
              <a:rPr dirty="0" sz="1700"/>
              <a:t>studies</a:t>
            </a:r>
            <a:r>
              <a:rPr dirty="0" sz="1700" spc="-35"/>
              <a:t> </a:t>
            </a:r>
            <a:r>
              <a:rPr dirty="0" sz="1700"/>
              <a:t>and</a:t>
            </a:r>
            <a:r>
              <a:rPr dirty="0" sz="1700" spc="-40"/>
              <a:t> </a:t>
            </a:r>
            <a:r>
              <a:rPr dirty="0" sz="1700"/>
              <a:t>implementations</a:t>
            </a:r>
            <a:r>
              <a:rPr dirty="0" sz="1700" spc="-35"/>
              <a:t> </a:t>
            </a:r>
            <a:r>
              <a:rPr dirty="0" sz="1700"/>
              <a:t>show</a:t>
            </a:r>
            <a:r>
              <a:rPr dirty="0" sz="1700" spc="-40"/>
              <a:t> </a:t>
            </a:r>
            <a:r>
              <a:rPr dirty="0" sz="1700"/>
              <a:t>that</a:t>
            </a:r>
            <a:r>
              <a:rPr dirty="0" sz="1700" spc="-35"/>
              <a:t> </a:t>
            </a:r>
            <a:r>
              <a:rPr dirty="0" sz="1700"/>
              <a:t>automated</a:t>
            </a:r>
            <a:r>
              <a:rPr dirty="0" sz="1700" spc="-40"/>
              <a:t> </a:t>
            </a:r>
            <a:r>
              <a:rPr dirty="0" sz="1700"/>
              <a:t>market</a:t>
            </a:r>
            <a:r>
              <a:rPr dirty="0" sz="1700" spc="-35"/>
              <a:t> </a:t>
            </a:r>
            <a:r>
              <a:rPr dirty="0" sz="1700" spc="-10"/>
              <a:t>analysis significantly</a:t>
            </a:r>
            <a:r>
              <a:rPr dirty="0" sz="1700" spc="-30"/>
              <a:t> </a:t>
            </a:r>
            <a:r>
              <a:rPr dirty="0" sz="1700" spc="-10"/>
              <a:t>improves</a:t>
            </a:r>
            <a:r>
              <a:rPr dirty="0" sz="1700" spc="-30"/>
              <a:t> </a:t>
            </a:r>
            <a:r>
              <a:rPr dirty="0" sz="1700"/>
              <a:t>trading</a:t>
            </a:r>
            <a:r>
              <a:rPr dirty="0" sz="1700" spc="-30"/>
              <a:t> </a:t>
            </a:r>
            <a:r>
              <a:rPr dirty="0" sz="1700" spc="-20"/>
              <a:t>efficiency,</a:t>
            </a:r>
            <a:r>
              <a:rPr dirty="0" sz="1700" spc="-25"/>
              <a:t> </a:t>
            </a:r>
            <a:r>
              <a:rPr dirty="0" sz="1700"/>
              <a:t>price</a:t>
            </a:r>
            <a:r>
              <a:rPr dirty="0" sz="1700" spc="-30"/>
              <a:t> </a:t>
            </a:r>
            <a:r>
              <a:rPr dirty="0" sz="1700"/>
              <a:t>fairness,</a:t>
            </a:r>
            <a:r>
              <a:rPr dirty="0" sz="1700" spc="-30"/>
              <a:t> </a:t>
            </a:r>
            <a:r>
              <a:rPr dirty="0" sz="1700"/>
              <a:t>and</a:t>
            </a:r>
            <a:r>
              <a:rPr dirty="0" sz="1700" spc="-25"/>
              <a:t> </a:t>
            </a:r>
            <a:r>
              <a:rPr dirty="0" sz="1700" spc="-10"/>
              <a:t>transparency.</a:t>
            </a:r>
            <a:endParaRPr sz="1700">
              <a:latin typeface="Cambria"/>
              <a:cs typeface="Cambria"/>
            </a:endParaRPr>
          </a:p>
          <a:p>
            <a:pPr marL="88900" marR="5080">
              <a:lnSpc>
                <a:spcPct val="100000"/>
              </a:lnSpc>
              <a:spcBef>
                <a:spcPts val="1200"/>
              </a:spcBef>
            </a:pPr>
            <a:r>
              <a:rPr dirty="0" sz="1700" spc="-30"/>
              <a:t>However,</a:t>
            </a:r>
            <a:r>
              <a:rPr dirty="0" sz="1700" spc="-50"/>
              <a:t> </a:t>
            </a:r>
            <a:r>
              <a:rPr dirty="0" sz="1700"/>
              <a:t>most</a:t>
            </a:r>
            <a:r>
              <a:rPr dirty="0" sz="1700" spc="-45"/>
              <a:t> </a:t>
            </a:r>
            <a:r>
              <a:rPr dirty="0" sz="1700" spc="-10"/>
              <a:t>existing</a:t>
            </a:r>
            <a:r>
              <a:rPr dirty="0" sz="1700" spc="-45"/>
              <a:t> </a:t>
            </a:r>
            <a:r>
              <a:rPr dirty="0" sz="1700"/>
              <a:t>agricultural</a:t>
            </a:r>
            <a:r>
              <a:rPr dirty="0" sz="1700" spc="-45"/>
              <a:t> </a:t>
            </a:r>
            <a:r>
              <a:rPr dirty="0" sz="1700"/>
              <a:t>platforms</a:t>
            </a:r>
            <a:r>
              <a:rPr dirty="0" sz="1700" spc="-50"/>
              <a:t> </a:t>
            </a:r>
            <a:r>
              <a:rPr dirty="0" sz="1700"/>
              <a:t>focus</a:t>
            </a:r>
            <a:r>
              <a:rPr dirty="0" sz="1700" spc="-45"/>
              <a:t> </a:t>
            </a:r>
            <a:r>
              <a:rPr dirty="0" sz="1700"/>
              <a:t>only</a:t>
            </a:r>
            <a:r>
              <a:rPr dirty="0" sz="1700" spc="-45"/>
              <a:t> </a:t>
            </a:r>
            <a:r>
              <a:rPr dirty="0" sz="1700"/>
              <a:t>on</a:t>
            </a:r>
            <a:r>
              <a:rPr dirty="0" sz="1700" spc="-25"/>
              <a:t> </a:t>
            </a:r>
            <a:r>
              <a:rPr dirty="0" sz="1700" b="1">
                <a:latin typeface="Cambria"/>
                <a:cs typeface="Cambria"/>
              </a:rPr>
              <a:t>basic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commodity</a:t>
            </a:r>
            <a:r>
              <a:rPr dirty="0" sz="1700" spc="-5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trading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or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price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reporting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spc="-25"/>
              <a:t>and </a:t>
            </a:r>
            <a:r>
              <a:rPr dirty="0" sz="1700"/>
              <a:t>lack</a:t>
            </a:r>
            <a:r>
              <a:rPr dirty="0" sz="1700" spc="-45"/>
              <a:t> </a:t>
            </a:r>
            <a:r>
              <a:rPr dirty="0" sz="1700"/>
              <a:t>an</a:t>
            </a:r>
            <a:r>
              <a:rPr dirty="0" sz="1700" spc="-40"/>
              <a:t> </a:t>
            </a:r>
            <a:r>
              <a:rPr dirty="0" sz="1700" spc="-10"/>
              <a:t>integrated</a:t>
            </a:r>
            <a:r>
              <a:rPr dirty="0" sz="1700" spc="-45"/>
              <a:t> </a:t>
            </a:r>
            <a:r>
              <a:rPr dirty="0" sz="1700" spc="-10"/>
              <a:t>approach</a:t>
            </a:r>
            <a:r>
              <a:rPr dirty="0" sz="1700" spc="-40"/>
              <a:t> </a:t>
            </a:r>
            <a:r>
              <a:rPr dirty="0" sz="1700"/>
              <a:t>that</a:t>
            </a:r>
            <a:r>
              <a:rPr dirty="0" sz="1700" spc="-45"/>
              <a:t> </a:t>
            </a:r>
            <a:r>
              <a:rPr dirty="0" sz="1700"/>
              <a:t>combines</a:t>
            </a:r>
            <a:r>
              <a:rPr dirty="0" sz="1700" spc="-25"/>
              <a:t> </a:t>
            </a:r>
            <a:r>
              <a:rPr dirty="0" sz="1700" spc="-25" b="1">
                <a:latin typeface="Cambria"/>
                <a:cs typeface="Cambria"/>
              </a:rPr>
              <a:t>real-</a:t>
            </a:r>
            <a:r>
              <a:rPr dirty="0" sz="1700" b="1">
                <a:latin typeface="Cambria"/>
                <a:cs typeface="Cambria"/>
              </a:rPr>
              <a:t>time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market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data,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price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forecasting,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digital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contracts,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spc="-25" b="1">
                <a:latin typeface="Cambria"/>
                <a:cs typeface="Cambria"/>
              </a:rPr>
              <a:t>and </a:t>
            </a:r>
            <a:r>
              <a:rPr dirty="0" sz="1700" b="1">
                <a:latin typeface="Cambria"/>
                <a:cs typeface="Cambria"/>
              </a:rPr>
              <a:t>export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insights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/>
              <a:t>in</a:t>
            </a:r>
            <a:r>
              <a:rPr dirty="0" sz="1700" spc="-40"/>
              <a:t> </a:t>
            </a:r>
            <a:r>
              <a:rPr dirty="0" sz="1700"/>
              <a:t>a</a:t>
            </a:r>
            <a:r>
              <a:rPr dirty="0" sz="1700" spc="-40"/>
              <a:t> </a:t>
            </a:r>
            <a:r>
              <a:rPr dirty="0" sz="1700"/>
              <a:t>single</a:t>
            </a:r>
            <a:r>
              <a:rPr dirty="0" sz="1700" spc="-40"/>
              <a:t> </a:t>
            </a:r>
            <a:r>
              <a:rPr dirty="0" sz="1700"/>
              <a:t>system.</a:t>
            </a:r>
            <a:r>
              <a:rPr dirty="0" sz="1700" spc="-40"/>
              <a:t> </a:t>
            </a:r>
            <a:r>
              <a:rPr dirty="0" sz="1700"/>
              <a:t>This</a:t>
            </a:r>
            <a:r>
              <a:rPr dirty="0" sz="1700" spc="-40"/>
              <a:t> </a:t>
            </a:r>
            <a:r>
              <a:rPr dirty="0" sz="1700"/>
              <a:t>creates</a:t>
            </a:r>
            <a:r>
              <a:rPr dirty="0" sz="1700" spc="-40"/>
              <a:t> </a:t>
            </a:r>
            <a:r>
              <a:rPr dirty="0" sz="1700"/>
              <a:t>an</a:t>
            </a:r>
            <a:r>
              <a:rPr dirty="0" sz="1700" spc="-40"/>
              <a:t> </a:t>
            </a:r>
            <a:r>
              <a:rPr dirty="0" sz="1700" spc="-10"/>
              <a:t>opportunity</a:t>
            </a:r>
            <a:r>
              <a:rPr dirty="0" sz="1700" spc="-40"/>
              <a:t> </a:t>
            </a:r>
            <a:r>
              <a:rPr dirty="0" sz="1700"/>
              <a:t>for</a:t>
            </a:r>
            <a:r>
              <a:rPr dirty="0" sz="1700" spc="-40"/>
              <a:t> </a:t>
            </a:r>
            <a:r>
              <a:rPr dirty="0" sz="1700"/>
              <a:t>a</a:t>
            </a:r>
            <a:r>
              <a:rPr dirty="0" sz="1700" spc="-40"/>
              <a:t> </a:t>
            </a:r>
            <a:r>
              <a:rPr dirty="0" sz="1700"/>
              <a:t>more</a:t>
            </a:r>
            <a:r>
              <a:rPr dirty="0" sz="1700" spc="-40"/>
              <a:t> </a:t>
            </a:r>
            <a:r>
              <a:rPr dirty="0" sz="1700" spc="-10"/>
              <a:t>comprehensive</a:t>
            </a:r>
            <a:r>
              <a:rPr dirty="0" sz="1700" spc="-40"/>
              <a:t> </a:t>
            </a:r>
            <a:r>
              <a:rPr dirty="0" sz="1700" spc="-10"/>
              <a:t>AI-</a:t>
            </a:r>
            <a:r>
              <a:rPr dirty="0" sz="1700"/>
              <a:t>assisted</a:t>
            </a:r>
            <a:r>
              <a:rPr dirty="0" sz="1700" spc="-40"/>
              <a:t> </a:t>
            </a:r>
            <a:r>
              <a:rPr dirty="0" sz="1700"/>
              <a:t>value</a:t>
            </a:r>
            <a:r>
              <a:rPr dirty="0" sz="1700" spc="-5"/>
              <a:t> </a:t>
            </a:r>
            <a:r>
              <a:rPr dirty="0" sz="1700" spc="-10"/>
              <a:t>chain integration</a:t>
            </a:r>
            <a:r>
              <a:rPr dirty="0" sz="1700" spc="-35"/>
              <a:t> </a:t>
            </a:r>
            <a:r>
              <a:rPr dirty="0" sz="1700"/>
              <a:t>platform</a:t>
            </a:r>
            <a:r>
              <a:rPr dirty="0" sz="1700" spc="-30"/>
              <a:t> </a:t>
            </a:r>
            <a:r>
              <a:rPr dirty="0" sz="1700"/>
              <a:t>to</a:t>
            </a:r>
            <a:r>
              <a:rPr dirty="0" sz="1700" spc="-30"/>
              <a:t> </a:t>
            </a:r>
            <a:r>
              <a:rPr dirty="0" sz="1700"/>
              <a:t>support</a:t>
            </a:r>
            <a:r>
              <a:rPr dirty="0" sz="1700" spc="-30"/>
              <a:t> </a:t>
            </a:r>
            <a:r>
              <a:rPr dirty="0" sz="1700"/>
              <a:t>efficient</a:t>
            </a:r>
            <a:r>
              <a:rPr dirty="0" sz="1700" spc="-30"/>
              <a:t> </a:t>
            </a:r>
            <a:r>
              <a:rPr dirty="0" sz="1700"/>
              <a:t>and</a:t>
            </a:r>
            <a:r>
              <a:rPr dirty="0" sz="1700" spc="-35"/>
              <a:t> </a:t>
            </a:r>
            <a:r>
              <a:rPr dirty="0" sz="1700"/>
              <a:t>fair</a:t>
            </a:r>
            <a:r>
              <a:rPr dirty="0" sz="1700" spc="-30"/>
              <a:t> </a:t>
            </a:r>
            <a:r>
              <a:rPr dirty="0" sz="1700"/>
              <a:t>marketing</a:t>
            </a:r>
            <a:r>
              <a:rPr dirty="0" sz="1700" spc="-30"/>
              <a:t> </a:t>
            </a:r>
            <a:r>
              <a:rPr dirty="0" sz="1700"/>
              <a:t>of</a:t>
            </a:r>
            <a:r>
              <a:rPr dirty="0" sz="1700" spc="-30"/>
              <a:t> </a:t>
            </a:r>
            <a:r>
              <a:rPr dirty="0" sz="1700"/>
              <a:t>oilseed</a:t>
            </a:r>
            <a:r>
              <a:rPr dirty="0" sz="1700" spc="-30"/>
              <a:t> by-</a:t>
            </a:r>
            <a:r>
              <a:rPr dirty="0" sz="1700" spc="-10"/>
              <a:t>products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Analysis</a:t>
            </a:r>
            <a:r>
              <a:rPr dirty="0" spc="-130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/>
              <a:t>Problem</a:t>
            </a:r>
            <a:r>
              <a:rPr dirty="0" spc="-125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825" y="969264"/>
            <a:ext cx="6629400" cy="3714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latin typeface="Cambria"/>
                <a:cs typeface="Cambria"/>
              </a:rPr>
              <a:t>Analysis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of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Problem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Statement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150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700">
                <a:latin typeface="Cambria"/>
                <a:cs typeface="Cambria"/>
              </a:rPr>
              <a:t>Oilseed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 spc="-30">
                <a:latin typeface="Cambria"/>
                <a:cs typeface="Cambria"/>
              </a:rPr>
              <a:t>by-</a:t>
            </a:r>
            <a:r>
              <a:rPr dirty="0" sz="1700">
                <a:latin typeface="Cambria"/>
                <a:cs typeface="Cambria"/>
              </a:rPr>
              <a:t>products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market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is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fragmented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and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poorly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integrated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700" b="1">
                <a:latin typeface="Cambria"/>
                <a:cs typeface="Cambria"/>
              </a:rPr>
              <a:t>Price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asymmetry</a:t>
            </a:r>
            <a:r>
              <a:rPr dirty="0" sz="1700">
                <a:latin typeface="Cambria"/>
                <a:cs typeface="Cambria"/>
              </a:rPr>
              <a:t>: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consumer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prices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rise,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farmer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prices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remain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 spc="-25">
                <a:latin typeface="Cambria"/>
                <a:cs typeface="Cambria"/>
              </a:rPr>
              <a:t>low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700" spc="-10">
                <a:latin typeface="Cambria"/>
                <a:cs typeface="Cambria"/>
              </a:rPr>
              <a:t>Farmers</a:t>
            </a:r>
            <a:r>
              <a:rPr dirty="0" sz="1700" spc="-50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cannot</a:t>
            </a:r>
            <a:r>
              <a:rPr dirty="0" sz="1700" spc="-5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monetize</a:t>
            </a:r>
            <a:r>
              <a:rPr dirty="0" sz="1700" spc="-50" b="1">
                <a:latin typeface="Cambria"/>
                <a:cs typeface="Cambria"/>
              </a:rPr>
              <a:t> </a:t>
            </a:r>
            <a:r>
              <a:rPr dirty="0" sz="1700" spc="-35" b="1">
                <a:latin typeface="Cambria"/>
                <a:cs typeface="Cambria"/>
              </a:rPr>
              <a:t>by-</a:t>
            </a:r>
            <a:r>
              <a:rPr dirty="0" sz="1700" b="1">
                <a:latin typeface="Cambria"/>
                <a:cs typeface="Cambria"/>
              </a:rPr>
              <a:t>products</a:t>
            </a:r>
            <a:r>
              <a:rPr dirty="0" sz="1700" spc="-5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effectively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700" b="1">
                <a:latin typeface="Cambria"/>
                <a:cs typeface="Cambria"/>
              </a:rPr>
              <a:t>No</a:t>
            </a:r>
            <a:r>
              <a:rPr dirty="0" sz="1700" spc="-20" b="1">
                <a:latin typeface="Cambria"/>
                <a:cs typeface="Cambria"/>
              </a:rPr>
              <a:t> </a:t>
            </a:r>
            <a:r>
              <a:rPr dirty="0" sz="1700" spc="-25" b="1">
                <a:latin typeface="Cambria"/>
                <a:cs typeface="Cambria"/>
              </a:rPr>
              <a:t>real-</a:t>
            </a:r>
            <a:r>
              <a:rPr dirty="0" sz="1700" b="1">
                <a:latin typeface="Cambria"/>
                <a:cs typeface="Cambria"/>
              </a:rPr>
              <a:t>time</a:t>
            </a:r>
            <a:r>
              <a:rPr dirty="0" sz="1700" spc="-2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demand–</a:t>
            </a:r>
            <a:r>
              <a:rPr dirty="0" sz="1700" b="1">
                <a:latin typeface="Cambria"/>
                <a:cs typeface="Cambria"/>
              </a:rPr>
              <a:t>supply</a:t>
            </a:r>
            <a:r>
              <a:rPr dirty="0" sz="1700" spc="-2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visibility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700" b="1">
                <a:latin typeface="Cambria"/>
                <a:cs typeface="Cambria"/>
              </a:rPr>
              <a:t>High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price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volatility</a:t>
            </a:r>
            <a:r>
              <a:rPr dirty="0" sz="1700" spc="-20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and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lack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of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forecasting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700" spc="-10" b="1">
                <a:latin typeface="Cambria"/>
                <a:cs typeface="Cambria"/>
              </a:rPr>
              <a:t>Limited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export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access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and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trust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issues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in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transactions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190"/>
              <a:t> </a:t>
            </a:r>
            <a:r>
              <a:rPr dirty="0" spc="-10"/>
              <a:t>Datasets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8747" y="1035939"/>
            <a:ext cx="7413625" cy="2668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Font typeface="Cambria"/>
              <a:buChar char="•"/>
              <a:tabLst>
                <a:tab pos="336550" algn="l"/>
              </a:tabLst>
            </a:pPr>
            <a:r>
              <a:rPr dirty="0" sz="1700" spc="-20" b="1">
                <a:latin typeface="Cambria"/>
                <a:cs typeface="Cambria"/>
              </a:rPr>
              <a:t>Farmer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&amp;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Product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Data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–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oilseed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30">
                <a:latin typeface="Cambria"/>
                <a:cs typeface="Cambria"/>
              </a:rPr>
              <a:t>by-</a:t>
            </a:r>
            <a:r>
              <a:rPr dirty="0" sz="1700">
                <a:latin typeface="Cambria"/>
                <a:cs typeface="Cambria"/>
              </a:rPr>
              <a:t>product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type,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20">
                <a:latin typeface="Cambria"/>
                <a:cs typeface="Cambria"/>
              </a:rPr>
              <a:t>quantity,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20">
                <a:latin typeface="Cambria"/>
                <a:cs typeface="Cambria"/>
              </a:rPr>
              <a:t>quality,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location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dirty="0" sz="1700" spc="-10" b="1">
                <a:latin typeface="Cambria"/>
                <a:cs typeface="Cambria"/>
              </a:rPr>
              <a:t>Market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Price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Data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–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historical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and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real-</a:t>
            </a:r>
            <a:r>
              <a:rPr dirty="0" sz="1700">
                <a:latin typeface="Cambria"/>
                <a:cs typeface="Cambria"/>
              </a:rPr>
              <a:t>time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prices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of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meal,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cake,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20">
                <a:latin typeface="Cambria"/>
                <a:cs typeface="Cambria"/>
              </a:rPr>
              <a:t>husk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dirty="0" sz="1700" spc="-20" b="1">
                <a:latin typeface="Cambria"/>
                <a:cs typeface="Cambria"/>
              </a:rPr>
              <a:t>Transaction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Data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–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orders,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payments,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delivery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status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dirty="0" sz="1700" spc="-10" b="1">
                <a:latin typeface="Cambria"/>
                <a:cs typeface="Cambria"/>
              </a:rPr>
              <a:t>Demand–</a:t>
            </a:r>
            <a:r>
              <a:rPr dirty="0" sz="1700" b="1">
                <a:latin typeface="Cambria"/>
                <a:cs typeface="Cambria"/>
              </a:rPr>
              <a:t>Supply</a:t>
            </a:r>
            <a:r>
              <a:rPr dirty="0" sz="1700" spc="-5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Data</a:t>
            </a:r>
            <a:r>
              <a:rPr dirty="0" sz="1700" spc="-50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–</a:t>
            </a:r>
            <a:r>
              <a:rPr dirty="0" sz="1700" spc="-5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buyer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demand,</a:t>
            </a:r>
            <a:r>
              <a:rPr dirty="0" sz="1700" spc="-5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regional</a:t>
            </a:r>
            <a:r>
              <a:rPr dirty="0" sz="1700" spc="-5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consumption</a:t>
            </a:r>
            <a:r>
              <a:rPr dirty="0" sz="1700" spc="-5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trends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dirty="0" sz="1700" b="1">
                <a:latin typeface="Cambria"/>
                <a:cs typeface="Cambria"/>
              </a:rPr>
              <a:t>Export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Market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Data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–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global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prices,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demand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regions,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trade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volumes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Innovation</a:t>
            </a:r>
            <a:r>
              <a:rPr dirty="0" spc="-114"/>
              <a:t> </a:t>
            </a:r>
            <a:r>
              <a:rPr dirty="0"/>
              <a:t>/</a:t>
            </a:r>
            <a:r>
              <a:rPr dirty="0" spc="-114"/>
              <a:t> </a:t>
            </a:r>
            <a:r>
              <a:rPr dirty="0"/>
              <a:t>Novel</a:t>
            </a:r>
            <a:r>
              <a:rPr dirty="0" spc="-114"/>
              <a:t> </a:t>
            </a:r>
            <a:r>
              <a:rPr dirty="0" spc="-10"/>
              <a:t>Contribution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825" y="1159765"/>
            <a:ext cx="6833234" cy="3714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latin typeface="Cambria"/>
                <a:cs typeface="Cambria"/>
              </a:rPr>
              <a:t>Innovation</a:t>
            </a:r>
            <a:r>
              <a:rPr dirty="0" sz="1700" spc="-5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/</a:t>
            </a:r>
            <a:r>
              <a:rPr dirty="0" sz="1700" spc="-5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Novel</a:t>
            </a:r>
            <a:r>
              <a:rPr dirty="0" sz="1700" spc="-5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Contributions</a:t>
            </a:r>
            <a:r>
              <a:rPr dirty="0" sz="1700" spc="-5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(Reduced)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150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700" spc="-20" b="1">
                <a:latin typeface="Cambria"/>
                <a:cs typeface="Cambria"/>
              </a:rPr>
              <a:t>End-to-</a:t>
            </a:r>
            <a:r>
              <a:rPr dirty="0" sz="1700" b="1">
                <a:latin typeface="Cambria"/>
                <a:cs typeface="Cambria"/>
              </a:rPr>
              <a:t>end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digital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value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chain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integration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for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oilseed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 spc="-30">
                <a:latin typeface="Cambria"/>
                <a:cs typeface="Cambria"/>
              </a:rPr>
              <a:t>by-</a:t>
            </a:r>
            <a:r>
              <a:rPr dirty="0" sz="1700" spc="-10">
                <a:latin typeface="Cambria"/>
                <a:cs typeface="Cambria"/>
              </a:rPr>
              <a:t>products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700" spc="-10" b="1">
                <a:latin typeface="Cambria"/>
                <a:cs typeface="Cambria"/>
              </a:rPr>
              <a:t>AI-</a:t>
            </a:r>
            <a:r>
              <a:rPr dirty="0" sz="1700" b="1">
                <a:latin typeface="Cambria"/>
                <a:cs typeface="Cambria"/>
              </a:rPr>
              <a:t>based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price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and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demand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forecasting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to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reduce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market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volatility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700" spc="-25" b="1">
                <a:latin typeface="Cambria"/>
                <a:cs typeface="Cambria"/>
              </a:rPr>
              <a:t>Real-</a:t>
            </a:r>
            <a:r>
              <a:rPr dirty="0" sz="1700" b="1">
                <a:latin typeface="Cambria"/>
                <a:cs typeface="Cambria"/>
              </a:rPr>
              <a:t>time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demand–</a:t>
            </a:r>
            <a:r>
              <a:rPr dirty="0" sz="1700" b="1">
                <a:latin typeface="Cambria"/>
                <a:cs typeface="Cambria"/>
              </a:rPr>
              <a:t>supply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visibility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for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better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pricing</a:t>
            </a:r>
            <a:r>
              <a:rPr dirty="0" sz="1700" spc="-4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decisions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700" spc="-10" b="1">
                <a:latin typeface="Cambria"/>
                <a:cs typeface="Cambria"/>
              </a:rPr>
              <a:t>Direct</a:t>
            </a:r>
            <a:r>
              <a:rPr dirty="0" sz="1700" spc="-5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farmer–buyer</a:t>
            </a:r>
            <a:r>
              <a:rPr dirty="0" sz="1700" spc="-5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marketplace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eliminating</a:t>
            </a:r>
            <a:r>
              <a:rPr dirty="0" sz="1700" spc="-55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intermediaries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700" b="1">
                <a:latin typeface="Cambria"/>
                <a:cs typeface="Cambria"/>
              </a:rPr>
              <a:t>Export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opportunity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identification</a:t>
            </a:r>
            <a:r>
              <a:rPr dirty="0" sz="1700" spc="-15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for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surplus</a:t>
            </a:r>
            <a:r>
              <a:rPr dirty="0" sz="1700" spc="-30">
                <a:latin typeface="Cambria"/>
                <a:cs typeface="Cambria"/>
              </a:rPr>
              <a:t> by-</a:t>
            </a:r>
            <a:r>
              <a:rPr dirty="0" sz="1700" spc="-10">
                <a:latin typeface="Cambria"/>
                <a:cs typeface="Cambria"/>
              </a:rPr>
              <a:t>products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700" spc="-10" b="1">
                <a:latin typeface="Cambria"/>
                <a:cs typeface="Cambria"/>
              </a:rPr>
              <a:t>Decision-</a:t>
            </a:r>
            <a:r>
              <a:rPr dirty="0" sz="1700" b="1">
                <a:latin typeface="Cambria"/>
                <a:cs typeface="Cambria"/>
              </a:rPr>
              <a:t>support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dashboards</a:t>
            </a:r>
            <a:r>
              <a:rPr dirty="0" sz="1700" spc="-25" b="1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for</a:t>
            </a:r>
            <a:r>
              <a:rPr dirty="0" sz="1700" spc="-3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farmers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and</a:t>
            </a:r>
            <a:r>
              <a:rPr dirty="0" sz="1700" spc="-30">
                <a:latin typeface="Cambria"/>
                <a:cs typeface="Cambria"/>
              </a:rPr>
              <a:t> </a:t>
            </a:r>
            <a:r>
              <a:rPr dirty="0" sz="1700" spc="-10">
                <a:latin typeface="Cambria"/>
                <a:cs typeface="Cambria"/>
              </a:rPr>
              <a:t>processors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Technology</a:t>
            </a:r>
            <a:r>
              <a:rPr dirty="0" spc="-235"/>
              <a:t> </a:t>
            </a:r>
            <a:r>
              <a:rPr dirty="0" spc="-10"/>
              <a:t>Stack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latin typeface="Cambria"/>
                <a:cs typeface="Cambria"/>
              </a:rPr>
              <a:t>Python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/>
              <a:t>–</a:t>
            </a:r>
            <a:r>
              <a:rPr dirty="0" sz="1700" spc="-35"/>
              <a:t> </a:t>
            </a:r>
            <a:r>
              <a:rPr dirty="0" sz="1700"/>
              <a:t>Primary</a:t>
            </a:r>
            <a:r>
              <a:rPr dirty="0" sz="1700" spc="-35"/>
              <a:t> </a:t>
            </a:r>
            <a:r>
              <a:rPr dirty="0" sz="1700"/>
              <a:t>language</a:t>
            </a:r>
            <a:r>
              <a:rPr dirty="0" sz="1700" spc="-30"/>
              <a:t> </a:t>
            </a:r>
            <a:r>
              <a:rPr dirty="0" sz="1700"/>
              <a:t>for</a:t>
            </a:r>
            <a:r>
              <a:rPr dirty="0" sz="1700" spc="-35"/>
              <a:t> </a:t>
            </a:r>
            <a:r>
              <a:rPr dirty="0" sz="1700"/>
              <a:t>data</a:t>
            </a:r>
            <a:r>
              <a:rPr dirty="0" sz="1700" spc="-35"/>
              <a:t> </a:t>
            </a:r>
            <a:r>
              <a:rPr dirty="0" sz="1700"/>
              <a:t>processing,</a:t>
            </a:r>
            <a:r>
              <a:rPr dirty="0" sz="1700" spc="-35"/>
              <a:t> </a:t>
            </a:r>
            <a:r>
              <a:rPr dirty="0" sz="1700" spc="-10"/>
              <a:t>analytics,</a:t>
            </a:r>
            <a:r>
              <a:rPr dirty="0" sz="1700" spc="-35"/>
              <a:t> </a:t>
            </a:r>
            <a:r>
              <a:rPr dirty="0" sz="1700"/>
              <a:t>and</a:t>
            </a:r>
            <a:r>
              <a:rPr dirty="0" sz="1700" spc="-35"/>
              <a:t> </a:t>
            </a:r>
            <a:r>
              <a:rPr dirty="0" sz="1700"/>
              <a:t>backend</a:t>
            </a:r>
            <a:r>
              <a:rPr dirty="0" sz="1700" spc="-35"/>
              <a:t> </a:t>
            </a:r>
            <a:r>
              <a:rPr dirty="0" sz="1700"/>
              <a:t>logic</a:t>
            </a:r>
            <a:r>
              <a:rPr dirty="0" sz="1700" spc="-35"/>
              <a:t> </a:t>
            </a:r>
            <a:r>
              <a:rPr dirty="0" sz="1700"/>
              <a:t>of</a:t>
            </a:r>
            <a:r>
              <a:rPr dirty="0" sz="1700" spc="-35"/>
              <a:t> </a:t>
            </a:r>
            <a:r>
              <a:rPr dirty="0" sz="1700"/>
              <a:t>the</a:t>
            </a:r>
            <a:r>
              <a:rPr dirty="0" sz="1700" spc="-35"/>
              <a:t> </a:t>
            </a:r>
            <a:r>
              <a:rPr dirty="0" sz="1700"/>
              <a:t>waste</a:t>
            </a:r>
            <a:r>
              <a:rPr dirty="0" sz="1700" spc="-35"/>
              <a:t> </a:t>
            </a:r>
            <a:r>
              <a:rPr dirty="0" sz="1700"/>
              <a:t>monitoring</a:t>
            </a:r>
            <a:r>
              <a:rPr dirty="0" sz="1700" spc="-35"/>
              <a:t> </a:t>
            </a:r>
            <a:r>
              <a:rPr dirty="0" sz="1700" spc="-10"/>
              <a:t>system.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1700" spc="-10" b="1">
                <a:latin typeface="Cambria"/>
                <a:cs typeface="Cambria"/>
              </a:rPr>
              <a:t>JavaScript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/>
              <a:t>-</a:t>
            </a:r>
            <a:r>
              <a:rPr dirty="0" sz="1700" spc="-35"/>
              <a:t> </a:t>
            </a:r>
            <a:r>
              <a:rPr dirty="0" sz="1700" spc="-10"/>
              <a:t>FrontEnd</a:t>
            </a:r>
            <a:r>
              <a:rPr dirty="0" sz="1700" spc="-35"/>
              <a:t> </a:t>
            </a:r>
            <a:r>
              <a:rPr dirty="0" sz="1700"/>
              <a:t>Langauage</a:t>
            </a:r>
            <a:r>
              <a:rPr dirty="0" sz="1700" spc="-35"/>
              <a:t> </a:t>
            </a:r>
            <a:r>
              <a:rPr dirty="0" sz="1700"/>
              <a:t>for</a:t>
            </a:r>
            <a:r>
              <a:rPr dirty="0" sz="1700" spc="-35"/>
              <a:t> </a:t>
            </a:r>
            <a:r>
              <a:rPr dirty="0" sz="1700"/>
              <a:t>building</a:t>
            </a:r>
            <a:r>
              <a:rPr dirty="0" sz="1700" spc="-35"/>
              <a:t> </a:t>
            </a:r>
            <a:r>
              <a:rPr dirty="0" sz="1700"/>
              <a:t>User</a:t>
            </a:r>
            <a:r>
              <a:rPr dirty="0" sz="1700" spc="-35"/>
              <a:t> </a:t>
            </a:r>
            <a:r>
              <a:rPr dirty="0" sz="1700" spc="-10"/>
              <a:t>Interfaces.</a:t>
            </a:r>
            <a:endParaRPr sz="1700">
              <a:latin typeface="Cambria"/>
              <a:cs typeface="Cambria"/>
            </a:endParaRPr>
          </a:p>
          <a:p>
            <a:pPr marL="12700" marR="5829935">
              <a:lnSpc>
                <a:spcPct val="173800"/>
              </a:lnSpc>
            </a:pPr>
            <a:r>
              <a:rPr dirty="0" sz="1700" spc="-10" b="1">
                <a:latin typeface="Cambria"/>
                <a:cs typeface="Cambria"/>
              </a:rPr>
              <a:t>Frontend: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/>
              <a:t>React.js</a:t>
            </a:r>
            <a:r>
              <a:rPr dirty="0" sz="1700" spc="-45"/>
              <a:t> </a:t>
            </a:r>
            <a:r>
              <a:rPr dirty="0" sz="1700"/>
              <a:t>/</a:t>
            </a:r>
            <a:r>
              <a:rPr dirty="0" sz="1700" spc="-40"/>
              <a:t> </a:t>
            </a:r>
            <a:r>
              <a:rPr dirty="0" sz="1700"/>
              <a:t>HTML,</a:t>
            </a:r>
            <a:r>
              <a:rPr dirty="0" sz="1700" spc="-45"/>
              <a:t> </a:t>
            </a:r>
            <a:r>
              <a:rPr dirty="0" sz="1700"/>
              <a:t>CSS,</a:t>
            </a:r>
            <a:r>
              <a:rPr dirty="0" sz="1700" spc="-40"/>
              <a:t> </a:t>
            </a:r>
            <a:r>
              <a:rPr dirty="0" sz="1700" spc="-10"/>
              <a:t>JavaScript </a:t>
            </a:r>
            <a:r>
              <a:rPr dirty="0" sz="1700" spc="-10" b="1">
                <a:latin typeface="Cambria"/>
                <a:cs typeface="Cambria"/>
              </a:rPr>
              <a:t>Backend:</a:t>
            </a:r>
            <a:r>
              <a:rPr dirty="0" sz="1700" spc="-25" b="1">
                <a:latin typeface="Cambria"/>
                <a:cs typeface="Cambria"/>
              </a:rPr>
              <a:t> </a:t>
            </a:r>
            <a:r>
              <a:rPr dirty="0" sz="1700"/>
              <a:t>Python</a:t>
            </a:r>
            <a:r>
              <a:rPr dirty="0" sz="1700" spc="-35"/>
              <a:t> </a:t>
            </a:r>
            <a:r>
              <a:rPr dirty="0" sz="1700"/>
              <a:t>(Flask</a:t>
            </a:r>
            <a:r>
              <a:rPr dirty="0" sz="1700" spc="-30"/>
              <a:t> </a:t>
            </a:r>
            <a:r>
              <a:rPr dirty="0" sz="1700"/>
              <a:t>/</a:t>
            </a:r>
            <a:r>
              <a:rPr dirty="0" sz="1700" spc="-35"/>
              <a:t> </a:t>
            </a:r>
            <a:r>
              <a:rPr dirty="0" sz="1700"/>
              <a:t>Django)</a:t>
            </a:r>
            <a:r>
              <a:rPr dirty="0" sz="1700" spc="-35"/>
              <a:t> </a:t>
            </a:r>
            <a:r>
              <a:rPr dirty="0" sz="1700"/>
              <a:t>or</a:t>
            </a:r>
            <a:r>
              <a:rPr dirty="0" sz="1700" spc="-30"/>
              <a:t> </a:t>
            </a:r>
            <a:r>
              <a:rPr dirty="0" sz="1700" spc="-10"/>
              <a:t>Node.js </a:t>
            </a:r>
            <a:r>
              <a:rPr dirty="0" sz="1700" spc="-10" b="1">
                <a:latin typeface="Cambria"/>
                <a:cs typeface="Cambria"/>
              </a:rPr>
              <a:t>Database:</a:t>
            </a:r>
            <a:r>
              <a:rPr dirty="0" sz="1700" spc="-25" b="1">
                <a:latin typeface="Cambria"/>
                <a:cs typeface="Cambria"/>
              </a:rPr>
              <a:t> </a:t>
            </a:r>
            <a:r>
              <a:rPr dirty="0" sz="1700" spc="-10"/>
              <a:t>PostgreSQL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1700" b="1">
                <a:latin typeface="Cambria"/>
                <a:cs typeface="Cambria"/>
              </a:rPr>
              <a:t>AI</a:t>
            </a:r>
            <a:r>
              <a:rPr dirty="0" sz="1700" spc="-4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&amp;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 spc="-10" b="1">
                <a:latin typeface="Cambria"/>
                <a:cs typeface="Cambria"/>
              </a:rPr>
              <a:t>Analytics: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/>
              <a:t>Python,</a:t>
            </a:r>
            <a:r>
              <a:rPr dirty="0" sz="1700" spc="-40"/>
              <a:t> </a:t>
            </a:r>
            <a:r>
              <a:rPr dirty="0" sz="1700"/>
              <a:t>Pandas,</a:t>
            </a:r>
            <a:r>
              <a:rPr dirty="0" sz="1700" spc="-40"/>
              <a:t> </a:t>
            </a:r>
            <a:r>
              <a:rPr dirty="0" sz="1700" spc="-20"/>
              <a:t>NumPy,</a:t>
            </a:r>
            <a:r>
              <a:rPr dirty="0" sz="1700" spc="-40"/>
              <a:t> </a:t>
            </a:r>
            <a:r>
              <a:rPr dirty="0" sz="1700" spc="-10"/>
              <a:t>Scikit-</a:t>
            </a:r>
            <a:r>
              <a:rPr dirty="0" sz="1700"/>
              <a:t>learn</a:t>
            </a:r>
            <a:r>
              <a:rPr dirty="0" sz="1700" spc="-45"/>
              <a:t> </a:t>
            </a:r>
            <a:r>
              <a:rPr dirty="0" sz="1700"/>
              <a:t>/</a:t>
            </a:r>
            <a:r>
              <a:rPr dirty="0" sz="1700" spc="-40"/>
              <a:t> </a:t>
            </a:r>
            <a:r>
              <a:rPr dirty="0" sz="1700" spc="-20"/>
              <a:t>LSTM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1700" spc="-10" b="1">
                <a:latin typeface="Cambria"/>
                <a:cs typeface="Cambria"/>
              </a:rPr>
              <a:t>ChartJS/MatplotLib</a:t>
            </a:r>
            <a:r>
              <a:rPr dirty="0" sz="1700" spc="-40" b="1">
                <a:latin typeface="Cambria"/>
                <a:cs typeface="Cambria"/>
              </a:rPr>
              <a:t> </a:t>
            </a:r>
            <a:r>
              <a:rPr dirty="0" sz="1700"/>
              <a:t>–</a:t>
            </a:r>
            <a:r>
              <a:rPr dirty="0" sz="1700" spc="-40"/>
              <a:t> </a:t>
            </a:r>
            <a:r>
              <a:rPr dirty="0" sz="1700"/>
              <a:t>Visualizes</a:t>
            </a:r>
            <a:r>
              <a:rPr dirty="0" sz="1700" spc="-40"/>
              <a:t> </a:t>
            </a:r>
            <a:r>
              <a:rPr dirty="0" sz="1700"/>
              <a:t>segregation</a:t>
            </a:r>
            <a:r>
              <a:rPr dirty="0" sz="1700" spc="-40"/>
              <a:t> </a:t>
            </a:r>
            <a:r>
              <a:rPr dirty="0" sz="1700"/>
              <a:t>performance,</a:t>
            </a:r>
            <a:r>
              <a:rPr dirty="0" sz="1700" spc="-40"/>
              <a:t> </a:t>
            </a:r>
            <a:r>
              <a:rPr dirty="0" sz="1700"/>
              <a:t>bin</a:t>
            </a:r>
            <a:r>
              <a:rPr dirty="0" sz="1700" spc="-40"/>
              <a:t> </a:t>
            </a:r>
            <a:r>
              <a:rPr dirty="0" sz="1700"/>
              <a:t>status,</a:t>
            </a:r>
            <a:r>
              <a:rPr dirty="0" sz="1700" spc="-45"/>
              <a:t> </a:t>
            </a:r>
            <a:r>
              <a:rPr dirty="0" sz="1700"/>
              <a:t>and</a:t>
            </a:r>
            <a:r>
              <a:rPr dirty="0" sz="1700" spc="-40"/>
              <a:t> </a:t>
            </a:r>
            <a:r>
              <a:rPr dirty="0" sz="1700" spc="-15"/>
              <a:t>ward-</a:t>
            </a:r>
            <a:r>
              <a:rPr dirty="0" sz="1700"/>
              <a:t>wise</a:t>
            </a:r>
            <a:r>
              <a:rPr dirty="0" sz="1700" spc="-40"/>
              <a:t> </a:t>
            </a:r>
            <a:r>
              <a:rPr dirty="0" sz="1700" spc="-10"/>
              <a:t>trends.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dirty="0" sz="1700" b="1">
                <a:latin typeface="Cambria"/>
                <a:cs typeface="Cambria"/>
              </a:rPr>
              <a:t>Git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&amp;</a:t>
            </a:r>
            <a:r>
              <a:rPr dirty="0" sz="1700" spc="-35" b="1">
                <a:latin typeface="Cambria"/>
                <a:cs typeface="Cambria"/>
              </a:rPr>
              <a:t> </a:t>
            </a:r>
            <a:r>
              <a:rPr dirty="0" sz="1700" b="1">
                <a:latin typeface="Cambria"/>
                <a:cs typeface="Cambria"/>
              </a:rPr>
              <a:t>GitHub</a:t>
            </a:r>
            <a:r>
              <a:rPr dirty="0" sz="1700" spc="-30" b="1">
                <a:latin typeface="Cambria"/>
                <a:cs typeface="Cambria"/>
              </a:rPr>
              <a:t> </a:t>
            </a:r>
            <a:r>
              <a:rPr dirty="0" sz="1700"/>
              <a:t>–</a:t>
            </a:r>
            <a:r>
              <a:rPr dirty="0" sz="1700" spc="-35"/>
              <a:t> </a:t>
            </a:r>
            <a:r>
              <a:rPr dirty="0" sz="1700"/>
              <a:t>Used</a:t>
            </a:r>
            <a:r>
              <a:rPr dirty="0" sz="1700" spc="-35"/>
              <a:t> </a:t>
            </a:r>
            <a:r>
              <a:rPr dirty="0" sz="1700"/>
              <a:t>for</a:t>
            </a:r>
            <a:r>
              <a:rPr dirty="0" sz="1700" spc="-30"/>
              <a:t> </a:t>
            </a:r>
            <a:r>
              <a:rPr dirty="0" sz="1700"/>
              <a:t>source</a:t>
            </a:r>
            <a:r>
              <a:rPr dirty="0" sz="1700" spc="-35"/>
              <a:t> </a:t>
            </a:r>
            <a:r>
              <a:rPr dirty="0" sz="1700"/>
              <a:t>code</a:t>
            </a:r>
            <a:r>
              <a:rPr dirty="0" sz="1700" spc="-35"/>
              <a:t> </a:t>
            </a:r>
            <a:r>
              <a:rPr dirty="0" sz="1700"/>
              <a:t>management,</a:t>
            </a:r>
            <a:r>
              <a:rPr dirty="0" sz="1700" spc="-35"/>
              <a:t> </a:t>
            </a:r>
            <a:r>
              <a:rPr dirty="0" sz="1700"/>
              <a:t>version</a:t>
            </a:r>
            <a:r>
              <a:rPr dirty="0" sz="1700" spc="-35"/>
              <a:t> </a:t>
            </a:r>
            <a:r>
              <a:rPr dirty="0" sz="1700"/>
              <a:t>control,</a:t>
            </a:r>
            <a:r>
              <a:rPr dirty="0" sz="1700" spc="-40"/>
              <a:t> </a:t>
            </a:r>
            <a:r>
              <a:rPr dirty="0" sz="1700"/>
              <a:t>and</a:t>
            </a:r>
            <a:r>
              <a:rPr dirty="0" sz="1700" spc="-30"/>
              <a:t> </a:t>
            </a:r>
            <a:r>
              <a:rPr dirty="0" sz="1700"/>
              <a:t>team</a:t>
            </a:r>
            <a:r>
              <a:rPr dirty="0" sz="1700" spc="-35"/>
              <a:t> </a:t>
            </a:r>
            <a:r>
              <a:rPr dirty="0" sz="1700" spc="-10"/>
              <a:t>collaboration.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</a:rPr>
              <a:t>Timeline</a:t>
            </a:r>
            <a:r>
              <a:rPr dirty="0" sz="3600" spc="-35">
                <a:solidFill>
                  <a:srgbClr val="000000"/>
                </a:solidFill>
              </a:rPr>
              <a:t> </a:t>
            </a:r>
            <a:r>
              <a:rPr dirty="0" sz="3600">
                <a:solidFill>
                  <a:srgbClr val="000000"/>
                </a:solidFill>
              </a:rPr>
              <a:t>of</a:t>
            </a:r>
            <a:r>
              <a:rPr dirty="0" sz="3600" spc="-35">
                <a:solidFill>
                  <a:srgbClr val="000000"/>
                </a:solidFill>
              </a:rPr>
              <a:t> </a:t>
            </a:r>
            <a:r>
              <a:rPr dirty="0" sz="3600">
                <a:solidFill>
                  <a:srgbClr val="000000"/>
                </a:solidFill>
              </a:rPr>
              <a:t>the</a:t>
            </a:r>
            <a:r>
              <a:rPr dirty="0" sz="3600" spc="-35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Project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76962" y="1120812"/>
          <a:ext cx="10904855" cy="573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4465"/>
                <a:gridCol w="2704465"/>
                <a:gridCol w="2704464"/>
                <a:gridCol w="2704465"/>
              </a:tblGrid>
              <a:tr h="3498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Month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Phase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6619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Key</a:t>
                      </a:r>
                      <a:r>
                        <a:rPr dirty="0" sz="11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Activities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Deliverables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181673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b="1">
                          <a:latin typeface="Cambria"/>
                          <a:cs typeface="Cambria"/>
                        </a:rPr>
                        <a:t>Month</a:t>
                      </a:r>
                      <a:r>
                        <a:rPr dirty="0" sz="1100" spc="-25" b="1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50" b="1">
                          <a:latin typeface="Cambria"/>
                          <a:cs typeface="Cambria"/>
                        </a:rPr>
                        <a:t>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001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Data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Collection</a:t>
                      </a:r>
                      <a:r>
                        <a:rPr dirty="0" sz="1200" spc="-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&amp;</a:t>
                      </a:r>
                      <a:r>
                        <a:rPr dirty="0" sz="1200" spc="-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Setup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5303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spc="-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Gather</a:t>
                      </a:r>
                      <a:r>
                        <a:rPr dirty="0" sz="1200" spc="-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requirements</a:t>
                      </a:r>
                      <a:r>
                        <a:rPr dirty="0" sz="1200" spc="-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from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stakeholders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(farmers/FPOs,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oil</a:t>
                      </a:r>
                      <a:r>
                        <a:rPr dirty="0" sz="1200" spc="-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mills, buyers/exporters)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415925">
                        <a:lnSpc>
                          <a:spcPct val="100000"/>
                        </a:lnSpc>
                      </a:pPr>
                      <a:r>
                        <a:rPr dirty="0" sz="1200" spc="-45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Study</a:t>
                      </a:r>
                      <a:r>
                        <a:rPr dirty="0" sz="1200" spc="-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by-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products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flow:</a:t>
                      </a:r>
                      <a:r>
                        <a:rPr dirty="0" sz="1200" spc="-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soymeal,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cake,</a:t>
                      </a:r>
                      <a:r>
                        <a:rPr dirty="0" sz="1200" spc="-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husk,</a:t>
                      </a:r>
                      <a:r>
                        <a:rPr dirty="0" sz="1200" spc="-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bran</a:t>
                      </a:r>
                      <a:r>
                        <a:rPr dirty="0" sz="1200" spc="-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etc.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21526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Collect</a:t>
                      </a:r>
                      <a:r>
                        <a:rPr dirty="0" sz="1200" spc="-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sample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dataset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(mandi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rates, historical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price</a:t>
                      </a:r>
                      <a:r>
                        <a:rPr dirty="0" sz="1200" spc="-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trends,</a:t>
                      </a:r>
                      <a:r>
                        <a:rPr dirty="0" sz="1200" spc="-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demand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51054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spc="-10">
                          <a:latin typeface="Cambria"/>
                          <a:cs typeface="Cambria"/>
                        </a:rPr>
                        <a:t>-Problem analysis</a:t>
                      </a:r>
                      <a:r>
                        <a:rPr dirty="0" sz="1200" spc="-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+</a:t>
                      </a:r>
                      <a:r>
                        <a:rPr dirty="0" sz="1200" spc="-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architecture diagram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Cambria"/>
                          <a:cs typeface="Cambria"/>
                        </a:rPr>
                        <a:t>-Database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schema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+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API</a:t>
                      </a:r>
                      <a:r>
                        <a:rPr dirty="0" sz="1200" spc="-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blueprint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132080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b="1">
                          <a:latin typeface="Cambria"/>
                          <a:cs typeface="Cambria"/>
                        </a:rPr>
                        <a:t>Month</a:t>
                      </a:r>
                      <a:r>
                        <a:rPr dirty="0" sz="1100" spc="-25" b="1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50" b="1">
                          <a:latin typeface="Cambria"/>
                          <a:cs typeface="Cambria"/>
                        </a:rPr>
                        <a:t>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001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Model</a:t>
                      </a:r>
                      <a:r>
                        <a:rPr dirty="0" sz="1200" spc="-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Development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spc="-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Build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marketplace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module)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Build</a:t>
                      </a:r>
                      <a:r>
                        <a:rPr dirty="0" sz="1200" spc="-4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order</a:t>
                      </a:r>
                      <a:r>
                        <a:rPr dirty="0" sz="1200" spc="-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flow: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dirty="0" sz="1200" spc="-45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Smart</a:t>
                      </a:r>
                      <a:r>
                        <a:rPr dirty="0" sz="1200" spc="-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contract</a:t>
                      </a:r>
                      <a:r>
                        <a:rPr dirty="0" sz="1200" spc="-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development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spc="-10">
                          <a:latin typeface="Cambria"/>
                          <a:cs typeface="Cambria"/>
                        </a:rPr>
                        <a:t>-Functional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marketplace</a:t>
                      </a:r>
                      <a:r>
                        <a:rPr dirty="0" sz="1200" spc="-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web</a:t>
                      </a:r>
                      <a:r>
                        <a:rPr dirty="0" sz="1200" spc="-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app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211454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Buyer–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seller</a:t>
                      </a:r>
                      <a:r>
                        <a:rPr dirty="0" sz="1200" spc="-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matching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+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transaction workflow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dirty="0" sz="1200" spc="-45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Smart</a:t>
                      </a:r>
                      <a:r>
                        <a:rPr dirty="0" sz="1200" spc="-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contract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v1</a:t>
                      </a:r>
                      <a:r>
                        <a:rPr dirty="0" sz="1200" spc="-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deployed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on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 testnet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1157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b="1">
                          <a:latin typeface="Cambria"/>
                          <a:cs typeface="Cambria"/>
                        </a:rPr>
                        <a:t>Month</a:t>
                      </a:r>
                      <a:r>
                        <a:rPr dirty="0" sz="1100" spc="-25" b="1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50" b="1">
                          <a:latin typeface="Cambria"/>
                          <a:cs typeface="Cambria"/>
                        </a:rPr>
                        <a:t>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001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spc="-10">
                          <a:latin typeface="Cambria"/>
                          <a:cs typeface="Cambria"/>
                        </a:rPr>
                        <a:t>Advanced</a:t>
                      </a:r>
                      <a:r>
                        <a:rPr dirty="0" sz="1200" spc="-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Features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AI</a:t>
                      </a:r>
                      <a:r>
                        <a:rPr dirty="0" sz="1200" spc="-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module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Export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matchmaking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dirty="0" sz="1200" spc="-35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Add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 analytics dashboard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spc="-35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AI</a:t>
                      </a:r>
                      <a:r>
                        <a:rPr dirty="0" sz="1200" spc="-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price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forecasting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model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+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graphs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Export</a:t>
                      </a:r>
                      <a:r>
                        <a:rPr dirty="0" sz="1200" spc="-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matchmaking</a:t>
                      </a:r>
                      <a:r>
                        <a:rPr dirty="0" sz="1200" spc="-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prototype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dirty="0" sz="1200" spc="-35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Admin</a:t>
                      </a:r>
                      <a:r>
                        <a:rPr dirty="0" sz="1200" spc="-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analytics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panel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108521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b="1">
                          <a:latin typeface="Cambria"/>
                          <a:cs typeface="Cambria"/>
                        </a:rPr>
                        <a:t>Month</a:t>
                      </a:r>
                      <a:r>
                        <a:rPr dirty="0" sz="1100" spc="-25" b="1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50" b="1">
                          <a:latin typeface="Cambria"/>
                          <a:cs typeface="Cambria"/>
                        </a:rPr>
                        <a:t>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8001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spc="-20">
                          <a:latin typeface="Cambria"/>
                          <a:cs typeface="Cambria"/>
                        </a:rPr>
                        <a:t>Testing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&amp;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Final</a:t>
                      </a:r>
                      <a:r>
                        <a:rPr dirty="0" sz="1200" spc="-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Delivery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spc="-10">
                          <a:latin typeface="Cambria"/>
                          <a:cs typeface="Cambria"/>
                        </a:rPr>
                        <a:t>-End-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to-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end</a:t>
                      </a:r>
                      <a:r>
                        <a:rPr dirty="0" sz="1200" spc="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testing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dirty="0" sz="1200" spc="-45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Security</a:t>
                      </a:r>
                      <a:r>
                        <a:rPr dirty="0" sz="1200" spc="-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testing</a:t>
                      </a:r>
                      <a:r>
                        <a:rPr dirty="0" sz="1200" spc="-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+</a:t>
                      </a:r>
                      <a:r>
                        <a:rPr dirty="0" sz="1200" spc="-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role</a:t>
                      </a:r>
                      <a:r>
                        <a:rPr dirty="0" sz="1200" spc="-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validation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490220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Cambria"/>
                          <a:cs typeface="Cambria"/>
                        </a:rPr>
                        <a:t>-Optimize performance</a:t>
                      </a:r>
                      <a:r>
                        <a:rPr dirty="0" sz="1200" spc="-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(queries, caching,</a:t>
                      </a:r>
                      <a:r>
                        <a:rPr dirty="0" sz="1200" spc="-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API</a:t>
                      </a:r>
                      <a:r>
                        <a:rPr dirty="0" sz="1200" spc="-1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response)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Cambria"/>
                          <a:cs typeface="Cambria"/>
                        </a:rPr>
                        <a:t>-Prepare</a:t>
                      </a:r>
                      <a:r>
                        <a:rPr dirty="0" sz="1200" spc="-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documentation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&amp;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final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assets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200" spc="-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Final</a:t>
                      </a:r>
                      <a:r>
                        <a:rPr dirty="0" sz="1200" spc="-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system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168910" indent="-83185">
                        <a:lnSpc>
                          <a:spcPct val="100000"/>
                        </a:lnSpc>
                        <a:buChar char="-"/>
                        <a:tabLst>
                          <a:tab pos="168910" algn="l"/>
                        </a:tabLst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Project</a:t>
                      </a:r>
                      <a:r>
                        <a:rPr dirty="0" sz="1200" spc="-4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report</a:t>
                      </a:r>
                      <a:r>
                        <a:rPr dirty="0" sz="1200" spc="-4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&amp;</a:t>
                      </a:r>
                      <a:r>
                        <a:rPr dirty="0" sz="1200" spc="-4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25">
                          <a:latin typeface="Cambria"/>
                          <a:cs typeface="Cambria"/>
                        </a:rPr>
                        <a:t>PPT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168910" indent="-83185">
                        <a:lnSpc>
                          <a:spcPct val="100000"/>
                        </a:lnSpc>
                        <a:buChar char="-"/>
                        <a:tabLst>
                          <a:tab pos="168910" algn="l"/>
                        </a:tabLst>
                      </a:pPr>
                      <a:r>
                        <a:rPr dirty="0" sz="1200">
                          <a:latin typeface="Cambria"/>
                          <a:cs typeface="Cambria"/>
                        </a:rPr>
                        <a:t>Public</a:t>
                      </a:r>
                      <a:r>
                        <a:rPr dirty="0" sz="1200" spc="-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GitHub</a:t>
                      </a:r>
                      <a:r>
                        <a:rPr dirty="0" sz="1200" spc="-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200" spc="-10">
                          <a:latin typeface="Cambria"/>
                          <a:cs typeface="Cambria"/>
                        </a:rPr>
                        <a:t>repository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Github</a:t>
            </a:r>
            <a:r>
              <a:rPr dirty="0" spc="-125">
                <a:latin typeface="Cambria"/>
                <a:cs typeface="Cambria"/>
              </a:rPr>
              <a:t> </a:t>
            </a:r>
            <a:r>
              <a:rPr dirty="0" spc="-20">
                <a:latin typeface="Cambria"/>
                <a:cs typeface="Cambria"/>
              </a:rPr>
              <a:t>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8225" y="1157223"/>
            <a:ext cx="554164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Cambria"/>
                <a:cs typeface="Cambria"/>
              </a:rPr>
              <a:t>A</a:t>
            </a:r>
            <a:r>
              <a:rPr dirty="0" sz="2200" spc="-65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public</a:t>
            </a:r>
            <a:r>
              <a:rPr dirty="0" sz="2200" spc="-60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GitHub</a:t>
            </a:r>
            <a:r>
              <a:rPr dirty="0" sz="2200" spc="-60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repository</a:t>
            </a:r>
            <a:r>
              <a:rPr dirty="0" sz="2200" spc="-60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will</a:t>
            </a:r>
            <a:r>
              <a:rPr dirty="0" sz="2200" spc="-60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be</a:t>
            </a:r>
            <a:r>
              <a:rPr dirty="0" sz="2200" spc="-60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maintained. </a:t>
            </a:r>
            <a:r>
              <a:rPr dirty="0" sz="2200">
                <a:latin typeface="Cambria"/>
                <a:cs typeface="Cambria"/>
              </a:rPr>
              <a:t>Link:</a:t>
            </a:r>
            <a:r>
              <a:rPr dirty="0" sz="2200" spc="-50">
                <a:latin typeface="Cambria"/>
                <a:cs typeface="Cambria"/>
              </a:rPr>
              <a:t> </a:t>
            </a:r>
            <a:r>
              <a:rPr dirty="0" u="heavy" sz="22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GitHub</a:t>
            </a:r>
            <a:r>
              <a:rPr dirty="0" u="heavy" sz="2200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dirty="0" u="heavy" sz="22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Link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dirty="0" spc="-130"/>
              <a:t> </a:t>
            </a:r>
            <a:r>
              <a:rPr dirty="0"/>
              <a:t>(IEEE</a:t>
            </a:r>
            <a:r>
              <a:rPr dirty="0" spc="-125"/>
              <a:t> </a:t>
            </a:r>
            <a:r>
              <a:rPr dirty="0" spc="-10"/>
              <a:t>Format)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745490" indent="297180">
              <a:lnSpc>
                <a:spcPct val="114999"/>
              </a:lnSpc>
              <a:spcBef>
                <a:spcPts val="100"/>
              </a:spcBef>
              <a:buAutoNum type="arabicPlain"/>
              <a:tabLst>
                <a:tab pos="309880" algn="l"/>
              </a:tabLst>
            </a:pPr>
            <a:r>
              <a:rPr dirty="0" spc="-10"/>
              <a:t>Food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 spc="-10"/>
              <a:t>Agriculture</a:t>
            </a:r>
            <a:r>
              <a:rPr dirty="0" spc="-35"/>
              <a:t> </a:t>
            </a:r>
            <a:r>
              <a:rPr dirty="0" spc="-10"/>
              <a:t>Organization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United</a:t>
            </a:r>
            <a:r>
              <a:rPr dirty="0" spc="-40"/>
              <a:t> </a:t>
            </a:r>
            <a:r>
              <a:rPr dirty="0" spc="-10"/>
              <a:t>Nations</a:t>
            </a:r>
            <a:r>
              <a:rPr dirty="0" spc="-35"/>
              <a:t> </a:t>
            </a:r>
            <a:r>
              <a:rPr dirty="0" spc="-25"/>
              <a:t>(FAO),</a:t>
            </a:r>
            <a:r>
              <a:rPr dirty="0" spc="-35"/>
              <a:t> </a:t>
            </a:r>
            <a:r>
              <a:rPr dirty="0" spc="-55"/>
              <a:t>“FAOSTAT</a:t>
            </a:r>
            <a:r>
              <a:rPr dirty="0" spc="-35"/>
              <a:t> </a:t>
            </a:r>
            <a:r>
              <a:rPr dirty="0"/>
              <a:t>–</a:t>
            </a:r>
            <a:r>
              <a:rPr dirty="0" spc="-35"/>
              <a:t> </a:t>
            </a:r>
            <a:r>
              <a:rPr dirty="0" spc="-10"/>
              <a:t>Food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 spc="-10"/>
              <a:t>agriculture</a:t>
            </a:r>
            <a:r>
              <a:rPr dirty="0" spc="-35"/>
              <a:t> </a:t>
            </a:r>
            <a:r>
              <a:rPr dirty="0" spc="-25"/>
              <a:t>data,”</a:t>
            </a:r>
            <a:r>
              <a:rPr dirty="0" spc="-40"/>
              <a:t> </a:t>
            </a:r>
            <a:r>
              <a:rPr dirty="0" spc="-10"/>
              <a:t>2024. </a:t>
            </a:r>
            <a:r>
              <a:rPr dirty="0"/>
              <a:t>[Online]. </a:t>
            </a:r>
            <a:r>
              <a:rPr dirty="0" spc="-20"/>
              <a:t>Available:</a:t>
            </a:r>
            <a:r>
              <a:rPr dirty="0" spc="15"/>
              <a:t> </a:t>
            </a:r>
            <a:r>
              <a:rPr dirty="0" u="heavy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https://www.fao.org/faostat/</a:t>
            </a:r>
            <a:r>
              <a:rPr dirty="0" spc="-20"/>
              <a:t>.</a:t>
            </a:r>
            <a:r>
              <a:rPr dirty="0" spc="5"/>
              <a:t> </a:t>
            </a:r>
            <a:r>
              <a:rPr dirty="0"/>
              <a:t>[Accessed: Jan.</a:t>
            </a:r>
            <a:r>
              <a:rPr dirty="0" spc="5"/>
              <a:t> </a:t>
            </a:r>
            <a:r>
              <a:rPr dirty="0"/>
              <a:t>16,</a:t>
            </a:r>
            <a:r>
              <a:rPr dirty="0" spc="5"/>
              <a:t> </a:t>
            </a:r>
            <a:r>
              <a:rPr dirty="0" spc="-10"/>
              <a:t>2026].</a:t>
            </a:r>
          </a:p>
          <a:p>
            <a:pPr marL="12700" marR="38989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dirty="0" spc="-25"/>
              <a:t>World</a:t>
            </a:r>
            <a:r>
              <a:rPr dirty="0" spc="-40"/>
              <a:t> </a:t>
            </a:r>
            <a:r>
              <a:rPr dirty="0"/>
              <a:t>Bank,</a:t>
            </a:r>
            <a:r>
              <a:rPr dirty="0" spc="-30"/>
              <a:t> “Agriculture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35"/>
              <a:t>Food,”</a:t>
            </a:r>
            <a:r>
              <a:rPr dirty="0" spc="-30"/>
              <a:t> </a:t>
            </a:r>
            <a:r>
              <a:rPr dirty="0"/>
              <a:t>2024.</a:t>
            </a:r>
            <a:r>
              <a:rPr dirty="0" spc="-30"/>
              <a:t> </a:t>
            </a:r>
            <a:r>
              <a:rPr dirty="0"/>
              <a:t>[Online].</a:t>
            </a:r>
            <a:r>
              <a:rPr dirty="0" spc="-30"/>
              <a:t> </a:t>
            </a:r>
            <a:r>
              <a:rPr dirty="0" spc="-20"/>
              <a:t>Available:</a:t>
            </a:r>
            <a:r>
              <a:rPr dirty="0" spc="-10"/>
              <a:t> </a:t>
            </a:r>
            <a:r>
              <a:rPr dirty="0" u="heavy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https://www.worldbank.org/en/topic/agriculture</a:t>
            </a:r>
            <a:r>
              <a:rPr dirty="0" spc="-10"/>
              <a:t>. </a:t>
            </a:r>
            <a:r>
              <a:rPr dirty="0"/>
              <a:t>[Accessed:</a:t>
            </a:r>
            <a:r>
              <a:rPr dirty="0" spc="-40"/>
              <a:t> </a:t>
            </a:r>
            <a:r>
              <a:rPr dirty="0"/>
              <a:t>Jan.</a:t>
            </a:r>
            <a:r>
              <a:rPr dirty="0" spc="-35"/>
              <a:t> </a:t>
            </a:r>
            <a:r>
              <a:rPr dirty="0"/>
              <a:t>16,</a:t>
            </a:r>
            <a:r>
              <a:rPr dirty="0" spc="-40"/>
              <a:t> </a:t>
            </a:r>
            <a:r>
              <a:rPr dirty="0" spc="-10"/>
              <a:t>2026].</a:t>
            </a:r>
          </a:p>
          <a:p>
            <a:pPr marL="12700" marR="74168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dirty="0" spc="-10"/>
              <a:t>Government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/>
              <a:t>India,</a:t>
            </a:r>
            <a:r>
              <a:rPr dirty="0" spc="-30"/>
              <a:t> </a:t>
            </a:r>
            <a:r>
              <a:rPr dirty="0" spc="-10"/>
              <a:t>Ministry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 spc="-10"/>
              <a:t>Agriculture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-25"/>
              <a:t> </a:t>
            </a:r>
            <a:r>
              <a:rPr dirty="0" spc="-20"/>
              <a:t>Farmers</a:t>
            </a:r>
            <a:r>
              <a:rPr dirty="0" spc="-25"/>
              <a:t> Welfare,</a:t>
            </a:r>
            <a:r>
              <a:rPr dirty="0" spc="-30"/>
              <a:t> </a:t>
            </a:r>
            <a:r>
              <a:rPr dirty="0" spc="-10"/>
              <a:t>“e-</a:t>
            </a:r>
            <a:r>
              <a:rPr dirty="0"/>
              <a:t>NAM:</a:t>
            </a:r>
            <a:r>
              <a:rPr dirty="0" spc="-25"/>
              <a:t> </a:t>
            </a:r>
            <a:r>
              <a:rPr dirty="0" spc="-10"/>
              <a:t>National</a:t>
            </a:r>
            <a:r>
              <a:rPr dirty="0" spc="-25"/>
              <a:t> </a:t>
            </a:r>
            <a:r>
              <a:rPr dirty="0" spc="-10"/>
              <a:t>Agriculture</a:t>
            </a:r>
            <a:r>
              <a:rPr dirty="0" spc="-30"/>
              <a:t> </a:t>
            </a:r>
            <a:r>
              <a:rPr dirty="0" spc="-20"/>
              <a:t>Market,”</a:t>
            </a:r>
            <a:r>
              <a:rPr dirty="0" spc="-25"/>
              <a:t> </a:t>
            </a:r>
            <a:r>
              <a:rPr dirty="0" spc="-10"/>
              <a:t>2024. </a:t>
            </a:r>
            <a:r>
              <a:rPr dirty="0"/>
              <a:t>[Online].</a:t>
            </a:r>
            <a:r>
              <a:rPr dirty="0" spc="-15"/>
              <a:t> </a:t>
            </a:r>
            <a:r>
              <a:rPr dirty="0" spc="-20"/>
              <a:t>Available:</a:t>
            </a:r>
            <a:r>
              <a:rPr dirty="0"/>
              <a:t> </a:t>
            </a:r>
            <a:r>
              <a:rPr dirty="0" u="heavy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https://www.enam.gov.in/</a:t>
            </a:r>
            <a:r>
              <a:rPr dirty="0" spc="-20"/>
              <a:t>.</a:t>
            </a:r>
            <a:r>
              <a:rPr dirty="0" spc="-10"/>
              <a:t> </a:t>
            </a:r>
            <a:r>
              <a:rPr dirty="0"/>
              <a:t>[Accessed:</a:t>
            </a:r>
            <a:r>
              <a:rPr dirty="0" spc="-15"/>
              <a:t> </a:t>
            </a:r>
            <a:r>
              <a:rPr dirty="0"/>
              <a:t>Jan.</a:t>
            </a:r>
            <a:r>
              <a:rPr dirty="0" spc="-10"/>
              <a:t> </a:t>
            </a:r>
            <a:r>
              <a:rPr dirty="0"/>
              <a:t>16,</a:t>
            </a:r>
            <a:r>
              <a:rPr dirty="0" spc="-10"/>
              <a:t> 2026].</a:t>
            </a:r>
          </a:p>
          <a:p>
            <a:pPr marL="12700" marR="508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dirty="0" spc="-10"/>
              <a:t>Government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India,</a:t>
            </a:r>
            <a:r>
              <a:rPr dirty="0" spc="-40"/>
              <a:t> </a:t>
            </a:r>
            <a:r>
              <a:rPr dirty="0" spc="-10"/>
              <a:t>Directorate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 spc="-10"/>
              <a:t>Marketing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/>
              <a:t>Inspection</a:t>
            </a:r>
            <a:r>
              <a:rPr dirty="0" spc="-40"/>
              <a:t> </a:t>
            </a:r>
            <a:r>
              <a:rPr dirty="0"/>
              <a:t>(DMI),</a:t>
            </a:r>
            <a:r>
              <a:rPr dirty="0" spc="-45"/>
              <a:t> </a:t>
            </a:r>
            <a:r>
              <a:rPr dirty="0" spc="-35"/>
              <a:t>“AGMARKNET:</a:t>
            </a:r>
            <a:r>
              <a:rPr dirty="0" spc="-40"/>
              <a:t> </a:t>
            </a:r>
            <a:r>
              <a:rPr dirty="0" spc="-10"/>
              <a:t>Agricultural</a:t>
            </a:r>
            <a:r>
              <a:rPr dirty="0" spc="-40"/>
              <a:t> </a:t>
            </a:r>
            <a:r>
              <a:rPr dirty="0"/>
              <a:t>Marketing</a:t>
            </a:r>
            <a:r>
              <a:rPr dirty="0" spc="-10"/>
              <a:t> Information </a:t>
            </a:r>
            <a:r>
              <a:rPr dirty="0" spc="-20"/>
              <a:t>Network,”</a:t>
            </a:r>
            <a:r>
              <a:rPr dirty="0" spc="-15"/>
              <a:t> </a:t>
            </a:r>
            <a:r>
              <a:rPr dirty="0"/>
              <a:t>2024.</a:t>
            </a:r>
            <a:r>
              <a:rPr dirty="0" spc="-15"/>
              <a:t> </a:t>
            </a:r>
            <a:r>
              <a:rPr dirty="0"/>
              <a:t>[Online].</a:t>
            </a:r>
            <a:r>
              <a:rPr dirty="0" spc="-10"/>
              <a:t> </a:t>
            </a:r>
            <a:r>
              <a:rPr dirty="0" spc="-20"/>
              <a:t>Available:</a:t>
            </a:r>
            <a:r>
              <a:rPr dirty="0" spc="-5"/>
              <a:t> </a:t>
            </a:r>
            <a:r>
              <a:rPr dirty="0" u="heavy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/>
              </a:rPr>
              <a:t>https://agmarknet.gov.in/</a:t>
            </a:r>
            <a:r>
              <a:rPr dirty="0" spc="-20"/>
              <a:t>.</a:t>
            </a:r>
            <a:r>
              <a:rPr dirty="0" spc="-10"/>
              <a:t> </a:t>
            </a:r>
            <a:r>
              <a:rPr dirty="0"/>
              <a:t>[Accessed:</a:t>
            </a:r>
            <a:r>
              <a:rPr dirty="0" spc="-15"/>
              <a:t> </a:t>
            </a:r>
            <a:r>
              <a:rPr dirty="0"/>
              <a:t>Jan.</a:t>
            </a:r>
            <a:r>
              <a:rPr dirty="0" spc="-10"/>
              <a:t> </a:t>
            </a:r>
            <a:r>
              <a:rPr dirty="0"/>
              <a:t>16,</a:t>
            </a:r>
            <a:r>
              <a:rPr dirty="0" spc="-15"/>
              <a:t> </a:t>
            </a:r>
            <a:r>
              <a:rPr dirty="0" spc="-10"/>
              <a:t>2026].</a:t>
            </a:r>
          </a:p>
          <a:p>
            <a:pPr marL="12700" marR="8382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dirty="0"/>
              <a:t>NCDEX</a:t>
            </a:r>
            <a:r>
              <a:rPr dirty="0" spc="-35"/>
              <a:t> </a:t>
            </a:r>
            <a:r>
              <a:rPr dirty="0" spc="-10"/>
              <a:t>(National</a:t>
            </a:r>
            <a:r>
              <a:rPr dirty="0" spc="-30"/>
              <a:t> </a:t>
            </a:r>
            <a:r>
              <a:rPr dirty="0" spc="-10"/>
              <a:t>Commodity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20"/>
              <a:t>Derivatives</a:t>
            </a:r>
            <a:r>
              <a:rPr dirty="0" spc="-30"/>
              <a:t> </a:t>
            </a:r>
            <a:r>
              <a:rPr dirty="0" spc="-10"/>
              <a:t>Exchange),</a:t>
            </a:r>
            <a:r>
              <a:rPr dirty="0" spc="-30"/>
              <a:t> </a:t>
            </a:r>
            <a:r>
              <a:rPr dirty="0" spc="-10"/>
              <a:t>“Commodity</a:t>
            </a:r>
            <a:r>
              <a:rPr dirty="0" spc="-35"/>
              <a:t> </a:t>
            </a:r>
            <a:r>
              <a:rPr dirty="0"/>
              <a:t>Market</a:t>
            </a:r>
            <a:r>
              <a:rPr dirty="0" spc="-30"/>
              <a:t> </a:t>
            </a:r>
            <a:r>
              <a:rPr dirty="0"/>
              <a:t>Prices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20"/>
              <a:t>Trading</a:t>
            </a:r>
            <a:r>
              <a:rPr dirty="0" spc="-30"/>
              <a:t> </a:t>
            </a:r>
            <a:r>
              <a:rPr dirty="0" spc="-25"/>
              <a:t>Information,”</a:t>
            </a:r>
            <a:r>
              <a:rPr dirty="0" spc="-30"/>
              <a:t> </a:t>
            </a:r>
            <a:r>
              <a:rPr dirty="0" spc="-10"/>
              <a:t>2024. </a:t>
            </a:r>
            <a:r>
              <a:rPr dirty="0"/>
              <a:t>[Online].</a:t>
            </a:r>
            <a:r>
              <a:rPr dirty="0" spc="-40"/>
              <a:t> </a:t>
            </a:r>
            <a:r>
              <a:rPr dirty="0" spc="-20"/>
              <a:t>Available:</a:t>
            </a:r>
            <a:r>
              <a:rPr dirty="0" spc="-25"/>
              <a:t> </a:t>
            </a:r>
            <a:r>
              <a:rPr dirty="0" u="heavy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/>
              </a:rPr>
              <a:t>https://www.ncdex.com/</a:t>
            </a:r>
            <a:r>
              <a:rPr dirty="0" spc="-10"/>
              <a:t>.</a:t>
            </a:r>
            <a:r>
              <a:rPr dirty="0" spc="-35"/>
              <a:t> </a:t>
            </a:r>
            <a:r>
              <a:rPr dirty="0"/>
              <a:t>[Accessed:</a:t>
            </a:r>
            <a:r>
              <a:rPr dirty="0" spc="-35"/>
              <a:t> </a:t>
            </a:r>
            <a:r>
              <a:rPr dirty="0"/>
              <a:t>Jan.</a:t>
            </a:r>
            <a:r>
              <a:rPr dirty="0" spc="-40"/>
              <a:t> </a:t>
            </a:r>
            <a:r>
              <a:rPr dirty="0"/>
              <a:t>16,</a:t>
            </a:r>
            <a:r>
              <a:rPr dirty="0" spc="-35"/>
              <a:t> </a:t>
            </a:r>
            <a:r>
              <a:rPr dirty="0" spc="-10"/>
              <a:t>2026].</a:t>
            </a:r>
          </a:p>
          <a:p>
            <a:pPr marL="12700" marR="485775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dirty="0"/>
              <a:t>Open</a:t>
            </a:r>
            <a:r>
              <a:rPr dirty="0" spc="-40"/>
              <a:t> </a:t>
            </a:r>
            <a:r>
              <a:rPr dirty="0" spc="-10"/>
              <a:t>Government</a:t>
            </a:r>
            <a:r>
              <a:rPr dirty="0" spc="-40"/>
              <a:t> </a:t>
            </a:r>
            <a:r>
              <a:rPr dirty="0"/>
              <a:t>Data</a:t>
            </a:r>
            <a:r>
              <a:rPr dirty="0" spc="-40"/>
              <a:t> </a:t>
            </a:r>
            <a:r>
              <a:rPr dirty="0"/>
              <a:t>(OGD)</a:t>
            </a:r>
            <a:r>
              <a:rPr dirty="0" spc="-40"/>
              <a:t> </a:t>
            </a:r>
            <a:r>
              <a:rPr dirty="0" spc="-10"/>
              <a:t>Platform</a:t>
            </a:r>
            <a:r>
              <a:rPr dirty="0" spc="-40"/>
              <a:t> </a:t>
            </a:r>
            <a:r>
              <a:rPr dirty="0"/>
              <a:t>India,</a:t>
            </a:r>
            <a:r>
              <a:rPr dirty="0" spc="-40"/>
              <a:t> </a:t>
            </a:r>
            <a:r>
              <a:rPr dirty="0"/>
              <a:t>“Open</a:t>
            </a:r>
            <a:r>
              <a:rPr dirty="0" spc="-40"/>
              <a:t> </a:t>
            </a:r>
            <a:r>
              <a:rPr dirty="0"/>
              <a:t>Data</a:t>
            </a:r>
            <a:r>
              <a:rPr dirty="0" spc="-40"/>
              <a:t> </a:t>
            </a:r>
            <a:r>
              <a:rPr dirty="0" spc="-25"/>
              <a:t>Portal,”</a:t>
            </a:r>
            <a:r>
              <a:rPr dirty="0" spc="-40"/>
              <a:t> </a:t>
            </a:r>
            <a:r>
              <a:rPr dirty="0"/>
              <a:t>2024.</a:t>
            </a:r>
            <a:r>
              <a:rPr dirty="0" spc="-40"/>
              <a:t> </a:t>
            </a:r>
            <a:r>
              <a:rPr dirty="0"/>
              <a:t>[Online].</a:t>
            </a:r>
            <a:r>
              <a:rPr dirty="0" spc="-40"/>
              <a:t> </a:t>
            </a:r>
            <a:r>
              <a:rPr dirty="0" spc="-20"/>
              <a:t>Available: </a:t>
            </a:r>
            <a:r>
              <a:rPr dirty="0" u="heavy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7"/>
              </a:rPr>
              <a:t>https://data.gov.in/</a:t>
            </a:r>
            <a:r>
              <a:rPr dirty="0" spc="-10"/>
              <a:t>. </a:t>
            </a:r>
            <a:r>
              <a:rPr dirty="0"/>
              <a:t>[Accessed:</a:t>
            </a:r>
            <a:r>
              <a:rPr dirty="0" spc="-40"/>
              <a:t> </a:t>
            </a:r>
            <a:r>
              <a:rPr dirty="0"/>
              <a:t>Jan.</a:t>
            </a:r>
            <a:r>
              <a:rPr dirty="0" spc="-35"/>
              <a:t> </a:t>
            </a:r>
            <a:r>
              <a:rPr dirty="0"/>
              <a:t>16,</a:t>
            </a:r>
            <a:r>
              <a:rPr dirty="0" spc="-40"/>
              <a:t> </a:t>
            </a:r>
            <a:r>
              <a:rPr dirty="0" spc="-10"/>
              <a:t>2026].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811" y="1441315"/>
            <a:ext cx="3893304" cy="39354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REVIEW_3</dc:title>
  <dcterms:created xsi:type="dcterms:W3CDTF">2026-04-26T15:21:10Z</dcterms:created>
  <dcterms:modified xsi:type="dcterms:W3CDTF">2026-04-26T15:21:10Z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2026-04-26T00:00:00Z</vt:filetime>
  </property>
  <property fmtid="{D5CDD505-2E9C-101B-9397-08002B2CF9AE}" pid="4" name="Creator">
    <vt:lpwstr>Google</vt:lpwstr>
  </property>
  <property fmtid="{D5CDD505-2E9C-101B-9397-08002B2CF9AE}" pid="5" name="LastSaved">
    <vt:filetime>2026-04-26T00:00:00Z</vt:filetime>
  </property>
</Properties>
</file>