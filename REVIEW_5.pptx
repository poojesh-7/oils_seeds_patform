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898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8225" y="278103"/>
            <a:ext cx="19411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90297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34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2800" y="93726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1366"/>
            <a:ext cx="12192000" cy="8666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1690" y="247777"/>
            <a:ext cx="65208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5825" y="1123696"/>
            <a:ext cx="10494010" cy="415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q=https%3A//github.com/poojesh-7/Oils_Seeds_Patform&amp;sa=D&amp;source=editors&amp;ust=1772619641742145&amp;usg=AOvVaw39vuXSPeqZlyPGE8PRqJHP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//www.worldbank.org/en/topic/agriculture&amp;sa=D&amp;source=editors&amp;ust=1772619641799876&amp;usg=AOvVaw1Ignl05jClW38_Sc4K6TXm" TargetMode="External"/><Relationship Id="rId7" Type="http://schemas.openxmlformats.org/officeDocument/2006/relationships/hyperlink" Target="https://www.google.com/url?q=https%3A//data.gov.in/&amp;sa=D&amp;source=editors&amp;ust=1772619641800081&amp;usg=AOvVaw1AN8VaHJlfvWpaWCDDYaPH" TargetMode="External"/><Relationship Id="rId2" Type="http://schemas.openxmlformats.org/officeDocument/2006/relationships/hyperlink" Target="https://www.google.com/url?q=https%3A//www.fao.org/faostat/&amp;sa=D&amp;source=editors&amp;ust=1772619641799731&amp;usg=AOvVaw2b0nKbg1sppPBJ_qqQGeg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url?q=https%3A//www.ncdex.com/&amp;sa=D&amp;source=editors&amp;ust=1772619641800031&amp;usg=AOvVaw00lLWmTe-mPtbQipBo_VXx" TargetMode="External"/><Relationship Id="rId5" Type="http://schemas.openxmlformats.org/officeDocument/2006/relationships/hyperlink" Target="https://www.google.com/url?q=https%3A//agmarknet.gov.in/&amp;sa=D&amp;source=editors&amp;ust=1772619641799984&amp;usg=AOvVaw3HCWIVM-dTKmC349djuTNI" TargetMode="External"/><Relationship Id="rId4" Type="http://schemas.openxmlformats.org/officeDocument/2006/relationships/hyperlink" Target="https://www.google.com/url?q=https%3A//www.enam.gov.in/&amp;sa=D&amp;source=editors&amp;ust=1772619641799938&amp;usg=AOvVaw09rq-3WSdvX-kEVOWSL4sw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23297" y="1359086"/>
            <a:ext cx="709358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 dirty="0">
                <a:solidFill>
                  <a:srgbClr val="000000"/>
                </a:solidFill>
                <a:latin typeface="Cambria"/>
                <a:cs typeface="Cambria"/>
              </a:rPr>
              <a:t>Value</a:t>
            </a:r>
            <a:r>
              <a:rPr sz="220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Chain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Integration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mbria"/>
                <a:cs typeface="Cambria"/>
              </a:rPr>
              <a:t>System</a:t>
            </a:r>
            <a:r>
              <a:rPr sz="220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Oilseed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spc="-35" dirty="0">
                <a:solidFill>
                  <a:srgbClr val="000000"/>
                </a:solidFill>
                <a:latin typeface="Cambria"/>
                <a:cs typeface="Cambria"/>
              </a:rPr>
              <a:t>By-</a:t>
            </a:r>
            <a:r>
              <a:rPr sz="2200" spc="-10" dirty="0">
                <a:solidFill>
                  <a:srgbClr val="000000"/>
                </a:solidFill>
                <a:latin typeface="Cambria"/>
                <a:cs typeface="Cambria"/>
              </a:rPr>
              <a:t>Products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493" y="2117033"/>
            <a:ext cx="2454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sz="1800" b="1" spc="31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CSD_25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4066" y="2485704"/>
            <a:ext cx="268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6346" y="3045927"/>
            <a:ext cx="2961005" cy="103631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23875" marR="515620" algn="ctr">
              <a:lnSpc>
                <a:spcPts val="1970"/>
              </a:lnSpc>
              <a:spcBef>
                <a:spcPts val="225"/>
              </a:spcBef>
            </a:pPr>
            <a:r>
              <a:rPr sz="1700" b="1" spc="-65" dirty="0">
                <a:solidFill>
                  <a:srgbClr val="17365D"/>
                </a:solidFill>
                <a:latin typeface="Cambria"/>
                <a:cs typeface="Cambria"/>
              </a:rPr>
              <a:t>Dr.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Roja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B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50" dirty="0">
                <a:solidFill>
                  <a:srgbClr val="17365D"/>
                </a:solidFill>
                <a:latin typeface="Cambria"/>
                <a:cs typeface="Cambria"/>
              </a:rPr>
              <a:t>A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endParaRPr sz="1700">
              <a:latin typeface="Cambria"/>
              <a:cs typeface="Cambria"/>
            </a:endParaRPr>
          </a:p>
          <a:p>
            <a:pPr marL="12700" marR="5080" algn="ctr">
              <a:lnSpc>
                <a:spcPts val="1970"/>
              </a:lnSpc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Information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Science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sz="1700" b="1" spc="-7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26" y="2654281"/>
            <a:ext cx="1804035" cy="148844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sz="1800" b="1" spc="100" dirty="0">
                <a:solidFill>
                  <a:srgbClr val="17365D"/>
                </a:solidFill>
                <a:latin typeface="Cambria"/>
                <a:cs typeface="Cambria"/>
              </a:rPr>
              <a:t>Roll</a:t>
            </a:r>
            <a:r>
              <a:rPr sz="1800" b="1" spc="229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60" dirty="0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20221CSD0140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20221CSD0126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20231CSD3003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9453" y="2654281"/>
            <a:ext cx="17113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marR="5080" indent="-173990">
              <a:lnSpc>
                <a:spcPct val="133300"/>
              </a:lnSpc>
              <a:spcBef>
                <a:spcPts val="100"/>
              </a:spcBef>
            </a:pPr>
            <a:r>
              <a:rPr sz="1800" b="1" spc="130" dirty="0">
                <a:solidFill>
                  <a:srgbClr val="17365D"/>
                </a:solidFill>
                <a:latin typeface="Cambria"/>
                <a:cs typeface="Cambria"/>
              </a:rPr>
              <a:t>Student</a:t>
            </a:r>
            <a:r>
              <a:rPr sz="1800" b="1" spc="2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90" dirty="0">
                <a:solidFill>
                  <a:srgbClr val="17365D"/>
                </a:solidFill>
                <a:latin typeface="Cambria"/>
                <a:cs typeface="Cambria"/>
              </a:rPr>
              <a:t>Name </a:t>
            </a:r>
            <a:r>
              <a:rPr sz="1800" spc="90" dirty="0">
                <a:latin typeface="Cambria"/>
                <a:cs typeface="Cambria"/>
              </a:rPr>
              <a:t>Poojesh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145" dirty="0">
                <a:latin typeface="Cambria"/>
                <a:cs typeface="Cambria"/>
              </a:rPr>
              <a:t>K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240" dirty="0">
                <a:latin typeface="Cambria"/>
                <a:cs typeface="Cambria"/>
              </a:rPr>
              <a:t>S </a:t>
            </a:r>
            <a:r>
              <a:rPr sz="1800" spc="75" dirty="0">
                <a:latin typeface="Cambria"/>
                <a:cs typeface="Cambria"/>
              </a:rPr>
              <a:t>Vishwajeet </a:t>
            </a:r>
            <a:r>
              <a:rPr sz="1800" spc="120" dirty="0">
                <a:latin typeface="Cambria"/>
                <a:cs typeface="Cambria"/>
              </a:rPr>
              <a:t>Puneeth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30" dirty="0">
                <a:latin typeface="Cambria"/>
                <a:cs typeface="Cambria"/>
              </a:rPr>
              <a:t>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4812" y="152696"/>
            <a:ext cx="9931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>
                <a:solidFill>
                  <a:srgbClr val="17365D"/>
                </a:solidFill>
                <a:latin typeface="Cambria"/>
                <a:cs typeface="Cambria"/>
              </a:rPr>
              <a:t>Review-</a:t>
            </a:r>
            <a:r>
              <a:rPr lang="en-US" b="1" spc="-50">
                <a:solidFill>
                  <a:srgbClr val="17365D"/>
                </a:solidFill>
                <a:latin typeface="Cambria"/>
                <a:cs typeface="Cambria"/>
              </a:rPr>
              <a:t>5</a:t>
            </a:r>
            <a:endParaRPr lang="en-US" b="1" spc="-50" dirty="0">
              <a:solidFill>
                <a:srgbClr val="17365D"/>
              </a:solidFill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025" y="4550155"/>
            <a:ext cx="86461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5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5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Program: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B.Tech</a:t>
            </a:r>
            <a:r>
              <a:rPr sz="1800" b="1" spc="30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(Computer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35" dirty="0">
                <a:latin typeface="Cambria"/>
                <a:cs typeface="Cambria"/>
              </a:rPr>
              <a:t>Engineering{DATA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SCIENCE})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HoD:</a:t>
            </a:r>
            <a:r>
              <a:rPr sz="1800" b="1" spc="-2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Pravinthraja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S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Program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Coordinator:</a:t>
            </a:r>
            <a:r>
              <a:rPr sz="1800" b="1" spc="-1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H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Manjula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School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Problem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Statement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Number: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25275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7425" y="1118312"/>
            <a:ext cx="10337800" cy="463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Organization: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Ministry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Welfare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(MoA&amp;FW)</a:t>
            </a:r>
            <a:endParaRPr sz="1700">
              <a:latin typeface="Cambria"/>
              <a:cs typeface="Cambria"/>
            </a:endParaRPr>
          </a:p>
          <a:p>
            <a:pPr marL="12700" marR="8194675">
              <a:lnSpc>
                <a:spcPct val="160000"/>
              </a:lnSpc>
            </a:pPr>
            <a:r>
              <a:rPr sz="1700" b="1" dirty="0">
                <a:latin typeface="Cambria"/>
                <a:cs typeface="Cambria"/>
              </a:rPr>
              <a:t>Category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: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Software </a:t>
            </a:r>
            <a:r>
              <a:rPr sz="1700" b="1" dirty="0">
                <a:latin typeface="Cambria"/>
                <a:cs typeface="Cambria"/>
              </a:rPr>
              <a:t>Problem</a:t>
            </a:r>
            <a:r>
              <a:rPr sz="1700" b="1" spc="-6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Description:</a:t>
            </a:r>
            <a:endParaRPr sz="1700">
              <a:latin typeface="Cambria"/>
              <a:cs typeface="Cambria"/>
            </a:endParaRPr>
          </a:p>
          <a:p>
            <a:pPr marL="107314">
              <a:lnSpc>
                <a:spcPts val="1835"/>
              </a:lnSpc>
              <a:spcBef>
                <a:spcPts val="1220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Background</a:t>
            </a:r>
            <a:endParaRPr sz="1700">
              <a:latin typeface="Cambria"/>
              <a:cs typeface="Cambria"/>
            </a:endParaRPr>
          </a:p>
          <a:p>
            <a:pPr marL="203200" marR="8890" indent="-46990" algn="just">
              <a:lnSpc>
                <a:spcPct val="80000"/>
              </a:lnSpc>
              <a:spcBef>
                <a:spcPts val="204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often</a:t>
            </a:r>
            <a:r>
              <a:rPr sz="1700" spc="21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fail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capture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from</a:t>
            </a:r>
            <a:r>
              <a:rPr sz="1700" spc="21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soymeal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due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asymmetries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and 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volatility.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Events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2022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Russia-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Ukraine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conflict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caused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distortions,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where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consumer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sz="1700" spc="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surged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while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farm-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gate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stagnated.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lack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structured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linkages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reduces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farmer profitability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discourages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investment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in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cultivation.</a:t>
            </a:r>
            <a:endParaRPr sz="1700">
              <a:latin typeface="Cambria"/>
              <a:cs typeface="Cambria"/>
            </a:endParaRPr>
          </a:p>
          <a:p>
            <a:pPr marL="59690" algn="just">
              <a:lnSpc>
                <a:spcPts val="1835"/>
              </a:lnSpc>
              <a:spcBef>
                <a:spcPts val="1225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Detailed</a:t>
            </a:r>
            <a:r>
              <a:rPr sz="1700" b="1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Description</a:t>
            </a:r>
            <a:endParaRPr sz="1700">
              <a:latin typeface="Cambria"/>
              <a:cs typeface="Cambria"/>
            </a:endParaRPr>
          </a:p>
          <a:p>
            <a:pPr marL="203200" marR="5080" indent="-73025" algn="just">
              <a:lnSpc>
                <a:spcPts val="1630"/>
              </a:lnSpc>
              <a:spcBef>
                <a:spcPts val="190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Create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digital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platform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connecting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farmers,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processors,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buyers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system</a:t>
            </a:r>
            <a:r>
              <a:rPr sz="1700" spc="2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provide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real-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time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demand-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supply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visibility,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enable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direct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transactions,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forecast</a:t>
            </a:r>
            <a:r>
              <a:rPr sz="1700" spc="2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market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trends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such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meal,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cakes,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husk.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It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also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identify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opportunities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surplus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specialty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endParaRPr sz="1700">
              <a:latin typeface="Cambria"/>
              <a:cs typeface="Cambria"/>
            </a:endParaRPr>
          </a:p>
          <a:p>
            <a:pPr marL="59690" algn="just">
              <a:lnSpc>
                <a:spcPts val="1835"/>
              </a:lnSpc>
              <a:spcBef>
                <a:spcPts val="1245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Expected</a:t>
            </a:r>
            <a:r>
              <a:rPr sz="1700" b="1" spc="-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endParaRPr sz="1700">
              <a:latin typeface="Cambria"/>
              <a:cs typeface="Cambria"/>
            </a:endParaRPr>
          </a:p>
          <a:p>
            <a:pPr marL="203200" marR="36195" indent="-3810" algn="just">
              <a:lnSpc>
                <a:spcPts val="1630"/>
              </a:lnSpc>
              <a:spcBef>
                <a:spcPts val="195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60" dirty="0">
                <a:solidFill>
                  <a:srgbClr val="212529"/>
                </a:solidFill>
                <a:latin typeface="Cambria"/>
                <a:cs typeface="Cambria"/>
              </a:rPr>
              <a:t>IoT-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integrated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marketplace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application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featuring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smart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contracts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transaction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security,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predictive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analytics</a:t>
            </a:r>
            <a:r>
              <a:rPr sz="1700" spc="1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volatility,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tools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global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matchmaking.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By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leveraging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blockchain</a:t>
            </a:r>
            <a:r>
              <a:rPr sz="1700" spc="1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AI,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will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empower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monetize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every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part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-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effectively.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mbria"/>
                <a:cs typeface="Cambria"/>
              </a:rPr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900" y="1000840"/>
            <a:ext cx="4625975" cy="50717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6075" indent="-333375">
              <a:lnSpc>
                <a:spcPct val="100000"/>
              </a:lnSpc>
              <a:spcBef>
                <a:spcPts val="37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Problem</a:t>
            </a:r>
            <a:r>
              <a:rPr sz="2150" b="1" spc="-9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Objectives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Background</a:t>
            </a:r>
            <a:r>
              <a:rPr sz="2150" b="1" spc="-9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and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Related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spc="-20" dirty="0">
                <a:latin typeface="Cambria"/>
                <a:cs typeface="Cambria"/>
              </a:rPr>
              <a:t>Work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Analysis</a:t>
            </a:r>
            <a:r>
              <a:rPr sz="2150" b="1" spc="-6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of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Problem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Proposed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Datasets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20" dirty="0">
                <a:latin typeface="Cambria"/>
                <a:cs typeface="Cambria"/>
              </a:rPr>
              <a:t>Innovation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or</a:t>
            </a:r>
            <a:r>
              <a:rPr sz="2150" b="1" spc="-5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Novel</a:t>
            </a:r>
            <a:r>
              <a:rPr sz="2150" b="1" spc="-5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Contributions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30" dirty="0">
                <a:latin typeface="Cambria"/>
                <a:cs typeface="Cambria"/>
              </a:rPr>
              <a:t>Technology</a:t>
            </a:r>
            <a:r>
              <a:rPr sz="2150" b="1" spc="-4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Stack</a:t>
            </a:r>
            <a:r>
              <a:rPr sz="2150" b="1" spc="-4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&amp;</a:t>
            </a:r>
            <a:r>
              <a:rPr sz="2150" b="1" spc="-4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Requirements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Timeline</a:t>
            </a:r>
            <a:r>
              <a:rPr sz="2150" b="1" spc="-3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of</a:t>
            </a:r>
            <a:r>
              <a:rPr sz="2150" b="1" spc="-3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the</a:t>
            </a:r>
            <a:r>
              <a:rPr sz="2150" b="1" spc="-3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Project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GitHub</a:t>
            </a:r>
            <a:r>
              <a:rPr sz="2150" b="1" spc="-100" dirty="0">
                <a:latin typeface="Cambria"/>
                <a:cs typeface="Cambria"/>
              </a:rPr>
              <a:t> </a:t>
            </a:r>
            <a:r>
              <a:rPr sz="2150" b="1" spc="-20" dirty="0">
                <a:latin typeface="Cambria"/>
                <a:cs typeface="Cambria"/>
              </a:rPr>
              <a:t>Link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References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4352"/>
            <a:ext cx="10335895" cy="509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82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such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as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soymeal,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oil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cakes,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husk,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bran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valuable,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receive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low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returns </a:t>
            </a:r>
            <a:r>
              <a:rPr sz="1700" dirty="0">
                <a:latin typeface="Cambria"/>
                <a:cs typeface="Cambria"/>
              </a:rPr>
              <a:t>due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fragmented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non-transparent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dominated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middlemen.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access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spc="-20" dirty="0">
                <a:latin typeface="Cambria"/>
                <a:cs typeface="Cambria"/>
              </a:rPr>
              <a:t>time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export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opportunities,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while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disruptions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where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consumer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farm-</a:t>
            </a:r>
            <a:r>
              <a:rPr sz="1700" dirty="0">
                <a:latin typeface="Cambria"/>
                <a:cs typeface="Cambria"/>
              </a:rPr>
              <a:t>gate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low.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Under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1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Department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Welfare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(Oil </a:t>
            </a:r>
            <a:r>
              <a:rPr sz="1700" b="1" spc="-10" dirty="0">
                <a:latin typeface="Cambria"/>
                <a:cs typeface="Cambria"/>
              </a:rPr>
              <a:t>Palm),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Ministry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Welfare</a:t>
            </a:r>
            <a:r>
              <a:rPr sz="1700" spc="-20" dirty="0">
                <a:latin typeface="Cambria"/>
                <a:cs typeface="Cambria"/>
              </a:rPr>
              <a:t>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these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issues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limit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effective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utilization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oilseed</a:t>
            </a:r>
            <a:endParaRPr sz="1700">
              <a:latin typeface="Cambria"/>
              <a:cs typeface="Cambria"/>
            </a:endParaRPr>
          </a:p>
          <a:p>
            <a:pPr marL="12700" marR="107950">
              <a:lnSpc>
                <a:spcPct val="114999"/>
              </a:lnSpc>
            </a:pP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products.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digital,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AI-</a:t>
            </a:r>
            <a:r>
              <a:rPr sz="1700" b="1" spc="-10" dirty="0">
                <a:latin typeface="Cambria"/>
                <a:cs typeface="Cambria"/>
              </a:rPr>
              <a:t>enabled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value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chain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platform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needed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processors,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buyers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ensure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fair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efficient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trading.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>
              <a:latin typeface="Cambria"/>
              <a:cs typeface="Cambria"/>
            </a:endParaRPr>
          </a:p>
          <a:p>
            <a:pPr marL="469900" marR="3365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spc="-20" dirty="0">
                <a:latin typeface="Cambria"/>
                <a:cs typeface="Cambria"/>
              </a:rPr>
              <a:t>Volume: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Large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quantities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produced,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there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no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unified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system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manage </a:t>
            </a:r>
            <a:r>
              <a:rPr sz="1700" spc="-30" dirty="0">
                <a:latin typeface="Cambria"/>
                <a:cs typeface="Cambria"/>
              </a:rPr>
              <a:t>supply,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pricing.</a:t>
            </a:r>
            <a:endParaRPr sz="1700">
              <a:latin typeface="Cambria"/>
              <a:cs typeface="Cambria"/>
            </a:endParaRPr>
          </a:p>
          <a:p>
            <a:pPr marL="469900" marR="508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dirty="0">
                <a:latin typeface="Cambria"/>
                <a:cs typeface="Cambria"/>
              </a:rPr>
              <a:t>Manual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Bottleneck: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Trading,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contract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management,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discovery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mostly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manual,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causing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delays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1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inefficiencies.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Insight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Loss: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visibility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into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export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opportunities.</a:t>
            </a:r>
            <a:endParaRPr sz="1700">
              <a:latin typeface="Cambria"/>
              <a:cs typeface="Cambria"/>
            </a:endParaRPr>
          </a:p>
          <a:p>
            <a:pPr marL="469900" marR="66802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Distortion: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supply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disruptions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create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but </a:t>
            </a:r>
            <a:r>
              <a:rPr sz="1700" spc="-10" dirty="0">
                <a:latin typeface="Cambria"/>
                <a:cs typeface="Cambria"/>
              </a:rPr>
              <a:t>farm-</a:t>
            </a:r>
            <a:r>
              <a:rPr sz="1700" dirty="0">
                <a:latin typeface="Cambria"/>
                <a:cs typeface="Cambria"/>
              </a:rPr>
              <a:t>gate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low.</a:t>
            </a:r>
            <a:endParaRPr sz="1700">
              <a:latin typeface="Cambria"/>
              <a:cs typeface="Cambria"/>
            </a:endParaRPr>
          </a:p>
          <a:p>
            <a:pPr marL="469900" marR="3746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dirty="0">
                <a:latin typeface="Cambria"/>
                <a:cs typeface="Cambria"/>
              </a:rPr>
              <a:t>Need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Timeliness: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require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fast,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transparent,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secure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digital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transactions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instead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slow </a:t>
            </a:r>
            <a:r>
              <a:rPr sz="1700" dirty="0">
                <a:latin typeface="Cambria"/>
                <a:cs typeface="Cambria"/>
              </a:rPr>
              <a:t>traditional</a:t>
            </a:r>
            <a:r>
              <a:rPr sz="1700" spc="-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marketing</a:t>
            </a:r>
            <a:r>
              <a:rPr sz="1700" spc="-7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channels.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721" y="970312"/>
            <a:ext cx="10238740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Digital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Market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Integration: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Build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unified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platform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connect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farmers,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buyers,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exporters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oilseed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by-</a:t>
            </a:r>
            <a:r>
              <a:rPr sz="1600" spc="-10" dirty="0">
                <a:latin typeface="Cambria"/>
                <a:cs typeface="Cambria"/>
              </a:rPr>
              <a:t>products.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9245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spc="-55" dirty="0">
                <a:latin typeface="Cambria"/>
                <a:cs typeface="Cambria"/>
              </a:rPr>
              <a:t>Real-</a:t>
            </a:r>
            <a:r>
              <a:rPr sz="1600" b="1" dirty="0">
                <a:latin typeface="Cambria"/>
                <a:cs typeface="Cambria"/>
              </a:rPr>
              <a:t>Time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Price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&amp;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Demand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Tracking: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Provide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live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prices,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demand,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stock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availability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for </a:t>
            </a:r>
            <a:r>
              <a:rPr sz="1600" spc="-10" dirty="0">
                <a:latin typeface="Cambria"/>
                <a:cs typeface="Cambria"/>
              </a:rPr>
              <a:t>soymeal,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oil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cakes,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husk,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bran.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Price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Forecasting: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AI-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analytics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predict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price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trends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volatility.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143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Direct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Trading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Enablement: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Reduce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dependency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middlemen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enabling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direct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transactions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between farmers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26352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Export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Opportunity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Identification: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Identify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global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demand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match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surplus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by-</a:t>
            </a:r>
            <a:r>
              <a:rPr sz="1600" dirty="0">
                <a:latin typeface="Cambria"/>
                <a:cs typeface="Cambria"/>
              </a:rPr>
              <a:t>products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international 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Smart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Contracts: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transparent,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tamper-</a:t>
            </a:r>
            <a:r>
              <a:rPr sz="1600" dirty="0">
                <a:latin typeface="Cambria"/>
                <a:cs typeface="Cambria"/>
              </a:rPr>
              <a:t>proof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transactions.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84010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spc="-10" dirty="0">
                <a:latin typeface="Cambria"/>
                <a:cs typeface="Cambria"/>
              </a:rPr>
              <a:t>Dashboard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&amp;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Visualization: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Provide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interactive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dashboards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farmers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officials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monitor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 performance.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Background</a:t>
            </a:r>
            <a:r>
              <a:rPr spc="-135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dirty="0"/>
              <a:t>Related</a:t>
            </a:r>
            <a:r>
              <a:rPr spc="-13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23495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Oilseed</a:t>
            </a:r>
            <a:r>
              <a:rPr sz="1700" spc="-45" dirty="0"/>
              <a:t> </a:t>
            </a:r>
            <a:r>
              <a:rPr sz="1700" dirty="0"/>
              <a:t>value</a:t>
            </a:r>
            <a:r>
              <a:rPr sz="1700" spc="-45" dirty="0"/>
              <a:t> </a:t>
            </a:r>
            <a:r>
              <a:rPr sz="1700" dirty="0"/>
              <a:t>chain</a:t>
            </a:r>
            <a:r>
              <a:rPr sz="1700" spc="-40" dirty="0"/>
              <a:t> </a:t>
            </a:r>
            <a:r>
              <a:rPr sz="1700" dirty="0"/>
              <a:t>platforms</a:t>
            </a:r>
            <a:r>
              <a:rPr sz="1700" spc="-45" dirty="0"/>
              <a:t> </a:t>
            </a:r>
            <a:r>
              <a:rPr sz="1700" dirty="0"/>
              <a:t>allow</a:t>
            </a:r>
            <a:r>
              <a:rPr sz="1700" spc="-40" dirty="0"/>
              <a:t> </a:t>
            </a:r>
            <a:r>
              <a:rPr sz="1700" dirty="0"/>
              <a:t>farmers,</a:t>
            </a:r>
            <a:r>
              <a:rPr sz="1700" spc="-45" dirty="0"/>
              <a:t> </a:t>
            </a:r>
            <a:r>
              <a:rPr sz="1700" dirty="0"/>
              <a:t>processors,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10" dirty="0"/>
              <a:t>buyers</a:t>
            </a:r>
            <a:r>
              <a:rPr sz="1700" spc="-45" dirty="0"/>
              <a:t> </a:t>
            </a:r>
            <a:r>
              <a:rPr sz="1700" dirty="0"/>
              <a:t>to</a:t>
            </a:r>
            <a:r>
              <a:rPr sz="1700" spc="-40" dirty="0"/>
              <a:t> </a:t>
            </a:r>
            <a:r>
              <a:rPr sz="1700" dirty="0"/>
              <a:t>trade</a:t>
            </a:r>
            <a:r>
              <a:rPr sz="1700" spc="-20" dirty="0"/>
              <a:t> </a:t>
            </a:r>
            <a:r>
              <a:rPr sz="1700" b="1" dirty="0">
                <a:latin typeface="Cambria"/>
                <a:cs typeface="Cambria"/>
              </a:rPr>
              <a:t>oilseed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by-</a:t>
            </a:r>
            <a:r>
              <a:rPr sz="1700" b="1" dirty="0">
                <a:latin typeface="Cambria"/>
                <a:cs typeface="Cambria"/>
              </a:rPr>
              <a:t>products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such</a:t>
            </a:r>
            <a:r>
              <a:rPr sz="1700" spc="-45" dirty="0"/>
              <a:t> </a:t>
            </a:r>
            <a:r>
              <a:rPr sz="1700" spc="-25" dirty="0"/>
              <a:t>as </a:t>
            </a:r>
            <a:r>
              <a:rPr sz="1700" b="1" spc="-10" dirty="0">
                <a:latin typeface="Cambria"/>
                <a:cs typeface="Cambria"/>
              </a:rPr>
              <a:t>soymeal,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oil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cakes,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husk,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bran</a:t>
            </a:r>
            <a:r>
              <a:rPr sz="1700" dirty="0"/>
              <a:t>.</a:t>
            </a:r>
            <a:r>
              <a:rPr sz="1700" spc="-30" dirty="0"/>
              <a:t> </a:t>
            </a:r>
            <a:r>
              <a:rPr sz="1700" dirty="0"/>
              <a:t>While</a:t>
            </a:r>
            <a:r>
              <a:rPr sz="1700" spc="-35" dirty="0"/>
              <a:t> </a:t>
            </a:r>
            <a:r>
              <a:rPr sz="1700" dirty="0"/>
              <a:t>this</a:t>
            </a:r>
            <a:r>
              <a:rPr sz="1700" spc="-30" dirty="0"/>
              <a:t> </a:t>
            </a:r>
            <a:r>
              <a:rPr sz="1700" spc="-10" dirty="0"/>
              <a:t>improves</a:t>
            </a:r>
            <a:r>
              <a:rPr sz="1700" spc="-35" dirty="0"/>
              <a:t> </a:t>
            </a:r>
            <a:r>
              <a:rPr sz="1700" dirty="0"/>
              <a:t>market</a:t>
            </a:r>
            <a:r>
              <a:rPr sz="1700" spc="-35" dirty="0"/>
              <a:t> </a:t>
            </a:r>
            <a:r>
              <a:rPr sz="1700" dirty="0"/>
              <a:t>access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spc="-20" dirty="0"/>
              <a:t>transparency,</a:t>
            </a:r>
            <a:r>
              <a:rPr sz="1700" spc="-30" dirty="0"/>
              <a:t> </a:t>
            </a:r>
            <a:r>
              <a:rPr sz="1700" dirty="0"/>
              <a:t>it</a:t>
            </a:r>
            <a:r>
              <a:rPr sz="1700" spc="-35" dirty="0"/>
              <a:t> </a:t>
            </a:r>
            <a:r>
              <a:rPr sz="1700" dirty="0"/>
              <a:t>also</a:t>
            </a:r>
            <a:r>
              <a:rPr sz="1700" spc="-35" dirty="0"/>
              <a:t> </a:t>
            </a:r>
            <a:r>
              <a:rPr sz="1700" dirty="0"/>
              <a:t>results</a:t>
            </a:r>
            <a:r>
              <a:rPr sz="1700" spc="-30" dirty="0"/>
              <a:t> </a:t>
            </a:r>
            <a:r>
              <a:rPr sz="1700" dirty="0"/>
              <a:t>in </a:t>
            </a:r>
            <a:r>
              <a:rPr sz="1700" b="1" spc="-10" dirty="0">
                <a:latin typeface="Cambria"/>
                <a:cs typeface="Cambria"/>
              </a:rPr>
              <a:t>large </a:t>
            </a:r>
            <a:r>
              <a:rPr sz="1700" b="1" dirty="0">
                <a:latin typeface="Cambria"/>
                <a:cs typeface="Cambria"/>
              </a:rPr>
              <a:t>volumes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unstructured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dirty="0"/>
              <a:t>,</a:t>
            </a:r>
            <a:r>
              <a:rPr sz="1700" spc="-45" dirty="0"/>
              <a:t> </a:t>
            </a:r>
            <a:r>
              <a:rPr sz="1700" dirty="0"/>
              <a:t>including</a:t>
            </a:r>
            <a:r>
              <a:rPr sz="1700" spc="-45" dirty="0"/>
              <a:t> </a:t>
            </a:r>
            <a:r>
              <a:rPr sz="1700" dirty="0"/>
              <a:t>price</a:t>
            </a:r>
            <a:r>
              <a:rPr sz="1700" spc="-40" dirty="0"/>
              <a:t> </a:t>
            </a:r>
            <a:r>
              <a:rPr sz="1700" dirty="0"/>
              <a:t>updates,</a:t>
            </a:r>
            <a:r>
              <a:rPr sz="1700" spc="-45" dirty="0"/>
              <a:t> </a:t>
            </a:r>
            <a:r>
              <a:rPr sz="1700" dirty="0"/>
              <a:t>demand</a:t>
            </a:r>
            <a:r>
              <a:rPr sz="1700" spc="-45" dirty="0"/>
              <a:t> </a:t>
            </a:r>
            <a:r>
              <a:rPr sz="1700" dirty="0"/>
              <a:t>listings,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dirty="0"/>
              <a:t>transaction</a:t>
            </a:r>
            <a:r>
              <a:rPr sz="1700" spc="-45" dirty="0"/>
              <a:t> </a:t>
            </a:r>
            <a:r>
              <a:rPr sz="1700" spc="-10" dirty="0"/>
              <a:t>records, </a:t>
            </a:r>
            <a:r>
              <a:rPr sz="1700" dirty="0"/>
              <a:t>making</a:t>
            </a:r>
            <a:r>
              <a:rPr sz="1700" spc="-40" dirty="0"/>
              <a:t> </a:t>
            </a:r>
            <a:r>
              <a:rPr sz="1700" dirty="0"/>
              <a:t>manual</a:t>
            </a:r>
            <a:r>
              <a:rPr sz="1700" spc="-35" dirty="0"/>
              <a:t> </a:t>
            </a:r>
            <a:r>
              <a:rPr sz="1700" dirty="0"/>
              <a:t>tracking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analysis</a:t>
            </a:r>
            <a:r>
              <a:rPr sz="1700" spc="-35" dirty="0"/>
              <a:t> </a:t>
            </a:r>
            <a:r>
              <a:rPr sz="1700" spc="-10" dirty="0"/>
              <a:t>time-</a:t>
            </a:r>
            <a:r>
              <a:rPr sz="1700" dirty="0"/>
              <a:t>consuming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spc="-10" dirty="0"/>
              <a:t>error-prone.</a:t>
            </a:r>
            <a:endParaRPr sz="1700">
              <a:latin typeface="Cambria"/>
              <a:cs typeface="Cambria"/>
            </a:endParaRPr>
          </a:p>
          <a:p>
            <a:pPr marL="88900" marR="222885">
              <a:lnSpc>
                <a:spcPct val="100000"/>
              </a:lnSpc>
              <a:spcBef>
                <a:spcPts val="1200"/>
              </a:spcBef>
            </a:pPr>
            <a:r>
              <a:rPr sz="1700" spc="-20" dirty="0"/>
              <a:t>Globally,</a:t>
            </a:r>
            <a:r>
              <a:rPr sz="1700" spc="-45" dirty="0"/>
              <a:t> </a:t>
            </a:r>
            <a:r>
              <a:rPr sz="1700" spc="-10" dirty="0"/>
              <a:t>governments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10" dirty="0"/>
              <a:t>agri-</a:t>
            </a:r>
            <a:r>
              <a:rPr sz="1700" dirty="0"/>
              <a:t>tech</a:t>
            </a:r>
            <a:r>
              <a:rPr sz="1700" spc="-40" dirty="0"/>
              <a:t> </a:t>
            </a:r>
            <a:r>
              <a:rPr sz="1700" dirty="0"/>
              <a:t>organizations</a:t>
            </a:r>
            <a:r>
              <a:rPr sz="1700" spc="-45" dirty="0"/>
              <a:t> </a:t>
            </a:r>
            <a:r>
              <a:rPr sz="1700" dirty="0"/>
              <a:t>have</a:t>
            </a:r>
            <a:r>
              <a:rPr sz="1700" spc="-40" dirty="0"/>
              <a:t> </a:t>
            </a:r>
            <a:r>
              <a:rPr sz="1700" dirty="0"/>
              <a:t>started</a:t>
            </a:r>
            <a:r>
              <a:rPr sz="1700" spc="-45" dirty="0"/>
              <a:t> </a:t>
            </a:r>
            <a:r>
              <a:rPr sz="1700" dirty="0"/>
              <a:t>adopting</a:t>
            </a:r>
            <a:r>
              <a:rPr sz="1700" spc="-15" dirty="0"/>
              <a:t> </a:t>
            </a:r>
            <a:r>
              <a:rPr sz="1700" b="1" spc="-10" dirty="0">
                <a:latin typeface="Cambria"/>
                <a:cs typeface="Cambria"/>
              </a:rPr>
              <a:t>Artificial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Intelligence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(AI),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 </a:t>
            </a:r>
            <a:r>
              <a:rPr sz="1700" b="1" dirty="0">
                <a:latin typeface="Cambria"/>
                <a:cs typeface="Cambria"/>
              </a:rPr>
              <a:t>Learning,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blockchain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technologies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/>
              <a:t>to</a:t>
            </a:r>
            <a:r>
              <a:rPr sz="1700" spc="-45" dirty="0"/>
              <a:t> </a:t>
            </a:r>
            <a:r>
              <a:rPr sz="1700" dirty="0"/>
              <a:t>analyze</a:t>
            </a:r>
            <a:r>
              <a:rPr sz="1700" spc="-45" dirty="0"/>
              <a:t> </a:t>
            </a:r>
            <a:r>
              <a:rPr sz="1700" dirty="0"/>
              <a:t>market</a:t>
            </a:r>
            <a:r>
              <a:rPr sz="1700" spc="-45" dirty="0"/>
              <a:t> </a:t>
            </a:r>
            <a:r>
              <a:rPr sz="1700" dirty="0"/>
              <a:t>data,</a:t>
            </a:r>
            <a:r>
              <a:rPr sz="1700" spc="-45" dirty="0"/>
              <a:t> </a:t>
            </a:r>
            <a:r>
              <a:rPr sz="1700" dirty="0"/>
              <a:t>predict</a:t>
            </a:r>
            <a:r>
              <a:rPr sz="1700" spc="-45" dirty="0"/>
              <a:t> </a:t>
            </a:r>
            <a:r>
              <a:rPr sz="1700" dirty="0"/>
              <a:t>price</a:t>
            </a:r>
            <a:r>
              <a:rPr sz="1700" spc="-50" dirty="0"/>
              <a:t> </a:t>
            </a:r>
            <a:r>
              <a:rPr sz="1700" dirty="0"/>
              <a:t>trends,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dirty="0"/>
              <a:t>secure</a:t>
            </a:r>
            <a:r>
              <a:rPr sz="1700" spc="-45" dirty="0"/>
              <a:t> </a:t>
            </a:r>
            <a:r>
              <a:rPr sz="1700" spc="-10" dirty="0"/>
              <a:t>agricultural </a:t>
            </a:r>
            <a:r>
              <a:rPr sz="1700" dirty="0"/>
              <a:t>transactions.</a:t>
            </a:r>
            <a:r>
              <a:rPr sz="1700" spc="-50" dirty="0"/>
              <a:t> </a:t>
            </a:r>
            <a:r>
              <a:rPr sz="1700" dirty="0"/>
              <a:t>These</a:t>
            </a:r>
            <a:r>
              <a:rPr sz="1700" spc="-45" dirty="0"/>
              <a:t> </a:t>
            </a:r>
            <a:r>
              <a:rPr sz="1700" dirty="0"/>
              <a:t>technologies</a:t>
            </a:r>
            <a:r>
              <a:rPr sz="1700" spc="-50" dirty="0"/>
              <a:t> </a:t>
            </a:r>
            <a:r>
              <a:rPr sz="1700" dirty="0"/>
              <a:t>help</a:t>
            </a:r>
            <a:r>
              <a:rPr sz="1700" spc="-45" dirty="0"/>
              <a:t> </a:t>
            </a:r>
            <a:r>
              <a:rPr sz="1700" dirty="0"/>
              <a:t>farmers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50" dirty="0"/>
              <a:t> </a:t>
            </a:r>
            <a:r>
              <a:rPr sz="1700" spc="-10" dirty="0"/>
              <a:t>policymakers</a:t>
            </a:r>
            <a:r>
              <a:rPr sz="1700" spc="-45" dirty="0"/>
              <a:t> </a:t>
            </a:r>
            <a:r>
              <a:rPr sz="1700" dirty="0"/>
              <a:t>better</a:t>
            </a:r>
            <a:r>
              <a:rPr sz="1700" spc="-45" dirty="0"/>
              <a:t> </a:t>
            </a:r>
            <a:r>
              <a:rPr sz="1700" dirty="0"/>
              <a:t>understand</a:t>
            </a:r>
            <a:r>
              <a:rPr sz="1700" spc="-20" dirty="0"/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demand,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price </a:t>
            </a:r>
            <a:r>
              <a:rPr sz="1700" b="1" spc="-30" dirty="0">
                <a:latin typeface="Cambria"/>
                <a:cs typeface="Cambria"/>
              </a:rPr>
              <a:t>volatility,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trade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opportunities.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dirty="0"/>
              <a:t>Prior</a:t>
            </a:r>
            <a:r>
              <a:rPr sz="1700" spc="-40" dirty="0"/>
              <a:t> </a:t>
            </a:r>
            <a:r>
              <a:rPr sz="1700" dirty="0"/>
              <a:t>studies</a:t>
            </a:r>
            <a:r>
              <a:rPr sz="1700" spc="-35" dirty="0"/>
              <a:t> </a:t>
            </a:r>
            <a:r>
              <a:rPr sz="1700" dirty="0"/>
              <a:t>and</a:t>
            </a:r>
            <a:r>
              <a:rPr sz="1700" spc="-40" dirty="0"/>
              <a:t> </a:t>
            </a:r>
            <a:r>
              <a:rPr sz="1700" dirty="0"/>
              <a:t>implementations</a:t>
            </a:r>
            <a:r>
              <a:rPr sz="1700" spc="-35" dirty="0"/>
              <a:t> </a:t>
            </a:r>
            <a:r>
              <a:rPr sz="1700" dirty="0"/>
              <a:t>show</a:t>
            </a:r>
            <a:r>
              <a:rPr sz="1700" spc="-40" dirty="0"/>
              <a:t> </a:t>
            </a:r>
            <a:r>
              <a:rPr sz="1700" dirty="0"/>
              <a:t>that</a:t>
            </a:r>
            <a:r>
              <a:rPr sz="1700" spc="-35" dirty="0"/>
              <a:t> </a:t>
            </a:r>
            <a:r>
              <a:rPr sz="1700" dirty="0"/>
              <a:t>automated</a:t>
            </a:r>
            <a:r>
              <a:rPr sz="1700" spc="-40" dirty="0"/>
              <a:t> </a:t>
            </a:r>
            <a:r>
              <a:rPr sz="1700" dirty="0"/>
              <a:t>market</a:t>
            </a:r>
            <a:r>
              <a:rPr sz="1700" spc="-35" dirty="0"/>
              <a:t> </a:t>
            </a:r>
            <a:r>
              <a:rPr sz="1700" spc="-10" dirty="0"/>
              <a:t>analysis significantly</a:t>
            </a:r>
            <a:r>
              <a:rPr sz="1700" spc="-30" dirty="0"/>
              <a:t> </a:t>
            </a:r>
            <a:r>
              <a:rPr sz="1700" spc="-10" dirty="0"/>
              <a:t>improves</a:t>
            </a:r>
            <a:r>
              <a:rPr sz="1700" spc="-30" dirty="0"/>
              <a:t> </a:t>
            </a:r>
            <a:r>
              <a:rPr sz="1700" dirty="0"/>
              <a:t>trading</a:t>
            </a:r>
            <a:r>
              <a:rPr sz="1700" spc="-30" dirty="0"/>
              <a:t> </a:t>
            </a:r>
            <a:r>
              <a:rPr sz="1700" spc="-20" dirty="0"/>
              <a:t>efficiency,</a:t>
            </a:r>
            <a:r>
              <a:rPr sz="1700" spc="-25" dirty="0"/>
              <a:t> </a:t>
            </a:r>
            <a:r>
              <a:rPr sz="1700" dirty="0"/>
              <a:t>price</a:t>
            </a:r>
            <a:r>
              <a:rPr sz="1700" spc="-30" dirty="0"/>
              <a:t> </a:t>
            </a:r>
            <a:r>
              <a:rPr sz="1700" dirty="0"/>
              <a:t>fairness,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25" dirty="0"/>
              <a:t> </a:t>
            </a:r>
            <a:r>
              <a:rPr sz="1700" spc="-10" dirty="0"/>
              <a:t>transparency.</a:t>
            </a:r>
            <a:endParaRPr sz="1700">
              <a:latin typeface="Cambria"/>
              <a:cs typeface="Cambria"/>
            </a:endParaRPr>
          </a:p>
          <a:p>
            <a:pPr marL="88900" marR="5080">
              <a:lnSpc>
                <a:spcPct val="100000"/>
              </a:lnSpc>
              <a:spcBef>
                <a:spcPts val="1200"/>
              </a:spcBef>
            </a:pPr>
            <a:r>
              <a:rPr sz="1700" spc="-30" dirty="0"/>
              <a:t>However,</a:t>
            </a:r>
            <a:r>
              <a:rPr sz="1700" spc="-50" dirty="0"/>
              <a:t> </a:t>
            </a:r>
            <a:r>
              <a:rPr sz="1700" dirty="0"/>
              <a:t>most</a:t>
            </a:r>
            <a:r>
              <a:rPr sz="1700" spc="-45" dirty="0"/>
              <a:t> </a:t>
            </a:r>
            <a:r>
              <a:rPr sz="1700" spc="-10" dirty="0"/>
              <a:t>existing</a:t>
            </a:r>
            <a:r>
              <a:rPr sz="1700" spc="-45" dirty="0"/>
              <a:t> </a:t>
            </a:r>
            <a:r>
              <a:rPr sz="1700" dirty="0"/>
              <a:t>agricultural</a:t>
            </a:r>
            <a:r>
              <a:rPr sz="1700" spc="-45" dirty="0"/>
              <a:t> </a:t>
            </a:r>
            <a:r>
              <a:rPr sz="1700" dirty="0"/>
              <a:t>platforms</a:t>
            </a:r>
            <a:r>
              <a:rPr sz="1700" spc="-50" dirty="0"/>
              <a:t> </a:t>
            </a:r>
            <a:r>
              <a:rPr sz="1700" dirty="0"/>
              <a:t>focus</a:t>
            </a:r>
            <a:r>
              <a:rPr sz="1700" spc="-45" dirty="0"/>
              <a:t> </a:t>
            </a:r>
            <a:r>
              <a:rPr sz="1700" dirty="0"/>
              <a:t>only</a:t>
            </a:r>
            <a:r>
              <a:rPr sz="1700" spc="-45" dirty="0"/>
              <a:t> </a:t>
            </a:r>
            <a:r>
              <a:rPr sz="1700" dirty="0"/>
              <a:t>on</a:t>
            </a:r>
            <a:r>
              <a:rPr sz="1700" spc="-25" dirty="0"/>
              <a:t> </a:t>
            </a:r>
            <a:r>
              <a:rPr sz="1700" b="1" dirty="0">
                <a:latin typeface="Cambria"/>
                <a:cs typeface="Cambria"/>
              </a:rPr>
              <a:t>basic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commodity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trading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or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reporting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-25" dirty="0"/>
              <a:t>and </a:t>
            </a:r>
            <a:r>
              <a:rPr sz="1700" dirty="0"/>
              <a:t>lack</a:t>
            </a:r>
            <a:r>
              <a:rPr sz="1700" spc="-45" dirty="0"/>
              <a:t> </a:t>
            </a:r>
            <a:r>
              <a:rPr sz="1700" dirty="0"/>
              <a:t>an</a:t>
            </a:r>
            <a:r>
              <a:rPr sz="1700" spc="-40" dirty="0"/>
              <a:t> </a:t>
            </a:r>
            <a:r>
              <a:rPr sz="1700" spc="-10" dirty="0"/>
              <a:t>integrated</a:t>
            </a:r>
            <a:r>
              <a:rPr sz="1700" spc="-45" dirty="0"/>
              <a:t> </a:t>
            </a:r>
            <a:r>
              <a:rPr sz="1700" spc="-10" dirty="0"/>
              <a:t>approach</a:t>
            </a:r>
            <a:r>
              <a:rPr sz="1700" spc="-40" dirty="0"/>
              <a:t> </a:t>
            </a:r>
            <a:r>
              <a:rPr sz="1700" dirty="0"/>
              <a:t>that</a:t>
            </a:r>
            <a:r>
              <a:rPr sz="1700" spc="-45" dirty="0"/>
              <a:t> </a:t>
            </a:r>
            <a:r>
              <a:rPr sz="1700" dirty="0"/>
              <a:t>combines</a:t>
            </a:r>
            <a:r>
              <a:rPr sz="1700" spc="-25" dirty="0"/>
              <a:t> </a:t>
            </a: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forecasting,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digital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contracts,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and </a:t>
            </a: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insights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in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0" dirty="0"/>
              <a:t> </a:t>
            </a:r>
            <a:r>
              <a:rPr sz="1700" dirty="0"/>
              <a:t>single</a:t>
            </a:r>
            <a:r>
              <a:rPr sz="1700" spc="-40" dirty="0"/>
              <a:t> </a:t>
            </a:r>
            <a:r>
              <a:rPr sz="1700" dirty="0"/>
              <a:t>system.</a:t>
            </a:r>
            <a:r>
              <a:rPr sz="1700" spc="-40" dirty="0"/>
              <a:t> </a:t>
            </a:r>
            <a:r>
              <a:rPr sz="1700" dirty="0"/>
              <a:t>This</a:t>
            </a:r>
            <a:r>
              <a:rPr sz="1700" spc="-40" dirty="0"/>
              <a:t> </a:t>
            </a:r>
            <a:r>
              <a:rPr sz="1700" dirty="0"/>
              <a:t>creates</a:t>
            </a:r>
            <a:r>
              <a:rPr sz="1700" spc="-40" dirty="0"/>
              <a:t> </a:t>
            </a:r>
            <a:r>
              <a:rPr sz="1700" dirty="0"/>
              <a:t>an</a:t>
            </a:r>
            <a:r>
              <a:rPr sz="1700" spc="-40" dirty="0"/>
              <a:t> </a:t>
            </a:r>
            <a:r>
              <a:rPr sz="1700" spc="-10" dirty="0"/>
              <a:t>opportunity</a:t>
            </a:r>
            <a:r>
              <a:rPr sz="1700" spc="-40" dirty="0"/>
              <a:t> </a:t>
            </a:r>
            <a:r>
              <a:rPr sz="1700" dirty="0"/>
              <a:t>for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0" dirty="0"/>
              <a:t> </a:t>
            </a:r>
            <a:r>
              <a:rPr sz="1700" dirty="0"/>
              <a:t>more</a:t>
            </a:r>
            <a:r>
              <a:rPr sz="1700" spc="-40" dirty="0"/>
              <a:t> </a:t>
            </a:r>
            <a:r>
              <a:rPr sz="1700" spc="-10" dirty="0"/>
              <a:t>comprehensive</a:t>
            </a:r>
            <a:r>
              <a:rPr sz="1700" spc="-40" dirty="0"/>
              <a:t> </a:t>
            </a:r>
            <a:r>
              <a:rPr sz="1700" spc="-10" dirty="0"/>
              <a:t>AI-</a:t>
            </a:r>
            <a:r>
              <a:rPr sz="1700" dirty="0"/>
              <a:t>assisted</a:t>
            </a:r>
            <a:r>
              <a:rPr sz="1700" spc="-40" dirty="0"/>
              <a:t> </a:t>
            </a:r>
            <a:r>
              <a:rPr sz="1700" dirty="0"/>
              <a:t>value</a:t>
            </a:r>
            <a:r>
              <a:rPr sz="1700" spc="-5" dirty="0"/>
              <a:t> </a:t>
            </a:r>
            <a:r>
              <a:rPr sz="1700" spc="-10" dirty="0"/>
              <a:t>chain integration</a:t>
            </a:r>
            <a:r>
              <a:rPr sz="1700" spc="-35" dirty="0"/>
              <a:t> </a:t>
            </a:r>
            <a:r>
              <a:rPr sz="1700" dirty="0"/>
              <a:t>platform</a:t>
            </a:r>
            <a:r>
              <a:rPr sz="1700" spc="-30" dirty="0"/>
              <a:t> </a:t>
            </a:r>
            <a:r>
              <a:rPr sz="1700" dirty="0"/>
              <a:t>to</a:t>
            </a:r>
            <a:r>
              <a:rPr sz="1700" spc="-30" dirty="0"/>
              <a:t> </a:t>
            </a:r>
            <a:r>
              <a:rPr sz="1700" dirty="0"/>
              <a:t>support</a:t>
            </a:r>
            <a:r>
              <a:rPr sz="1700" spc="-30" dirty="0"/>
              <a:t> </a:t>
            </a:r>
            <a:r>
              <a:rPr sz="1700" dirty="0"/>
              <a:t>efficient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fair</a:t>
            </a:r>
            <a:r>
              <a:rPr sz="1700" spc="-30" dirty="0"/>
              <a:t> </a:t>
            </a:r>
            <a:r>
              <a:rPr sz="1700" dirty="0"/>
              <a:t>marketing</a:t>
            </a:r>
            <a:r>
              <a:rPr sz="1700" spc="-30" dirty="0"/>
              <a:t> </a:t>
            </a:r>
            <a:r>
              <a:rPr sz="1700" dirty="0"/>
              <a:t>of</a:t>
            </a:r>
            <a:r>
              <a:rPr sz="1700" spc="-30" dirty="0"/>
              <a:t> </a:t>
            </a:r>
            <a:r>
              <a:rPr sz="1700" dirty="0"/>
              <a:t>oilseed</a:t>
            </a:r>
            <a:r>
              <a:rPr sz="1700" spc="-30" dirty="0"/>
              <a:t> by-</a:t>
            </a:r>
            <a:r>
              <a:rPr sz="1700" spc="-10" dirty="0"/>
              <a:t>products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Analysis</a:t>
            </a:r>
            <a:r>
              <a:rPr spc="-13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dirty="0"/>
              <a:t>Problem</a:t>
            </a:r>
            <a:r>
              <a:rPr spc="-12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9264"/>
            <a:ext cx="6629400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Analysis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Problem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Statement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fragmented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poorly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integrated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asymmetry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low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cannot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monetize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by-</a:t>
            </a:r>
            <a:r>
              <a:rPr sz="1700" b="1" dirty="0">
                <a:latin typeface="Cambria"/>
                <a:cs typeface="Cambria"/>
              </a:rPr>
              <a:t>products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effectively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No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visibility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High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volatility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forecasting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Limited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access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trust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issues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transactions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90" dirty="0"/>
              <a:t> </a:t>
            </a:r>
            <a:r>
              <a:rPr spc="-10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8747" y="1035939"/>
            <a:ext cx="7413625" cy="266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Font typeface="Cambria"/>
              <a:buChar char="•"/>
              <a:tabLst>
                <a:tab pos="336550" algn="l"/>
              </a:tabLst>
            </a:pPr>
            <a:r>
              <a:rPr sz="1700" b="1" spc="-20" dirty="0">
                <a:latin typeface="Cambria"/>
                <a:cs typeface="Cambria"/>
              </a:rPr>
              <a:t>Farmer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Product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type,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quantity,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quality,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location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historical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meal,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cake,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husk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20" dirty="0">
                <a:latin typeface="Cambria"/>
                <a:cs typeface="Cambria"/>
              </a:rPr>
              <a:t>Transaction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orders,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payments,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delivery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status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regional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consumption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trends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regions,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trade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volumes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Innovation</a:t>
            </a:r>
            <a:r>
              <a:rPr spc="-114" dirty="0"/>
              <a:t> </a:t>
            </a:r>
            <a:r>
              <a:rPr dirty="0"/>
              <a:t>/</a:t>
            </a:r>
            <a:r>
              <a:rPr spc="-114" dirty="0"/>
              <a:t> </a:t>
            </a:r>
            <a:r>
              <a:rPr dirty="0"/>
              <a:t>Novel</a:t>
            </a:r>
            <a:r>
              <a:rPr spc="-114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1159765"/>
            <a:ext cx="6833234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Innovation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/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Novel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Contributions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(Reduced)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700" b="1" spc="-20" dirty="0">
                <a:latin typeface="Cambria"/>
                <a:cs typeface="Cambria"/>
              </a:rPr>
              <a:t>End-to-</a:t>
            </a:r>
            <a:r>
              <a:rPr sz="1700" b="1" dirty="0">
                <a:latin typeface="Cambria"/>
                <a:cs typeface="Cambria"/>
              </a:rPr>
              <a:t>end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digital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value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chain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integration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spc="-10" dirty="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AI-</a:t>
            </a:r>
            <a:r>
              <a:rPr sz="1700" b="1" dirty="0">
                <a:latin typeface="Cambria"/>
                <a:cs typeface="Cambria"/>
              </a:rPr>
              <a:t>based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demand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forecasting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reduce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visibility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better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pricing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decisions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Direct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farmer–buyer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marketplace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eliminating</a:t>
            </a:r>
            <a:r>
              <a:rPr sz="1700" spc="-5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intermediaries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opportunity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identification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surplus</a:t>
            </a:r>
            <a:r>
              <a:rPr sz="1700" spc="-30" dirty="0">
                <a:latin typeface="Cambria"/>
                <a:cs typeface="Cambria"/>
              </a:rPr>
              <a:t> by-</a:t>
            </a:r>
            <a:r>
              <a:rPr sz="1700" spc="-10" dirty="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Decision-</a:t>
            </a:r>
            <a:r>
              <a:rPr sz="1700" b="1" dirty="0">
                <a:latin typeface="Cambria"/>
                <a:cs typeface="Cambria"/>
              </a:rPr>
              <a:t>support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dashboards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processors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spc="-235" dirty="0"/>
              <a:t> 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ambria"/>
                <a:cs typeface="Cambria"/>
              </a:rPr>
              <a:t>Python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35" dirty="0"/>
              <a:t> </a:t>
            </a:r>
            <a:r>
              <a:rPr sz="1700" dirty="0"/>
              <a:t>Primary</a:t>
            </a:r>
            <a:r>
              <a:rPr sz="1700" spc="-35" dirty="0"/>
              <a:t> </a:t>
            </a:r>
            <a:r>
              <a:rPr sz="1700" dirty="0"/>
              <a:t>language</a:t>
            </a:r>
            <a:r>
              <a:rPr sz="1700" spc="-30" dirty="0"/>
              <a:t> </a:t>
            </a:r>
            <a:r>
              <a:rPr sz="1700" dirty="0"/>
              <a:t>for</a:t>
            </a:r>
            <a:r>
              <a:rPr sz="1700" spc="-35" dirty="0"/>
              <a:t> </a:t>
            </a:r>
            <a:r>
              <a:rPr sz="1700" dirty="0"/>
              <a:t>data</a:t>
            </a:r>
            <a:r>
              <a:rPr sz="1700" spc="-35" dirty="0"/>
              <a:t> </a:t>
            </a:r>
            <a:r>
              <a:rPr sz="1700" dirty="0"/>
              <a:t>processing,</a:t>
            </a:r>
            <a:r>
              <a:rPr sz="1700" spc="-35" dirty="0"/>
              <a:t> </a:t>
            </a:r>
            <a:r>
              <a:rPr sz="1700" spc="-10" dirty="0"/>
              <a:t>analytics,</a:t>
            </a:r>
            <a:r>
              <a:rPr sz="1700" spc="-35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backend</a:t>
            </a:r>
            <a:r>
              <a:rPr sz="1700" spc="-35" dirty="0"/>
              <a:t> </a:t>
            </a:r>
            <a:r>
              <a:rPr sz="1700" dirty="0"/>
              <a:t>logic</a:t>
            </a:r>
            <a:r>
              <a:rPr sz="1700" spc="-35" dirty="0"/>
              <a:t> </a:t>
            </a:r>
            <a:r>
              <a:rPr sz="1700" dirty="0"/>
              <a:t>of</a:t>
            </a:r>
            <a:r>
              <a:rPr sz="1700" spc="-35" dirty="0"/>
              <a:t> </a:t>
            </a:r>
            <a:r>
              <a:rPr sz="1700" dirty="0"/>
              <a:t>the</a:t>
            </a:r>
            <a:r>
              <a:rPr sz="1700" spc="-35" dirty="0"/>
              <a:t> </a:t>
            </a:r>
            <a:r>
              <a:rPr sz="1700" dirty="0"/>
              <a:t>waste</a:t>
            </a:r>
            <a:r>
              <a:rPr sz="1700" spc="-35" dirty="0"/>
              <a:t> </a:t>
            </a:r>
            <a:r>
              <a:rPr sz="1700" dirty="0"/>
              <a:t>monitoring</a:t>
            </a:r>
            <a:r>
              <a:rPr sz="1700" spc="-35" dirty="0"/>
              <a:t> </a:t>
            </a:r>
            <a:r>
              <a:rPr sz="1700" spc="-10" dirty="0"/>
              <a:t>system.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Cambria"/>
                <a:cs typeface="Cambria"/>
              </a:rPr>
              <a:t>JavaScript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-</a:t>
            </a:r>
            <a:r>
              <a:rPr sz="1700" spc="-35" dirty="0"/>
              <a:t> </a:t>
            </a:r>
            <a:r>
              <a:rPr sz="1700" spc="-10" dirty="0"/>
              <a:t>FrontEnd</a:t>
            </a:r>
            <a:r>
              <a:rPr sz="1700" spc="-35" dirty="0"/>
              <a:t> </a:t>
            </a:r>
            <a:r>
              <a:rPr sz="1700" dirty="0"/>
              <a:t>Langauage</a:t>
            </a:r>
            <a:r>
              <a:rPr sz="1700" spc="-35" dirty="0"/>
              <a:t> </a:t>
            </a:r>
            <a:r>
              <a:rPr sz="1700" dirty="0"/>
              <a:t>for</a:t>
            </a:r>
            <a:r>
              <a:rPr sz="1700" spc="-35" dirty="0"/>
              <a:t> </a:t>
            </a:r>
            <a:r>
              <a:rPr sz="1700" dirty="0"/>
              <a:t>building</a:t>
            </a:r>
            <a:r>
              <a:rPr sz="1700" spc="-35" dirty="0"/>
              <a:t> </a:t>
            </a:r>
            <a:r>
              <a:rPr sz="1700" dirty="0"/>
              <a:t>User</a:t>
            </a:r>
            <a:r>
              <a:rPr sz="1700" spc="-35" dirty="0"/>
              <a:t> </a:t>
            </a:r>
            <a:r>
              <a:rPr sz="1700" spc="-10" dirty="0"/>
              <a:t>Interfaces.</a:t>
            </a:r>
            <a:endParaRPr sz="1700">
              <a:latin typeface="Cambria"/>
              <a:cs typeface="Cambria"/>
            </a:endParaRPr>
          </a:p>
          <a:p>
            <a:pPr marL="12700" marR="5829935">
              <a:lnSpc>
                <a:spcPct val="173800"/>
              </a:lnSpc>
            </a:pPr>
            <a:r>
              <a:rPr sz="1700" b="1" spc="-10" dirty="0">
                <a:latin typeface="Cambria"/>
                <a:cs typeface="Cambria"/>
              </a:rPr>
              <a:t>Frontend: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dirty="0"/>
              <a:t>React.js</a:t>
            </a:r>
            <a:r>
              <a:rPr sz="1700" spc="-45" dirty="0"/>
              <a:t> </a:t>
            </a:r>
            <a:r>
              <a:rPr sz="1700" dirty="0"/>
              <a:t>/</a:t>
            </a:r>
            <a:r>
              <a:rPr sz="1700" spc="-40" dirty="0"/>
              <a:t> </a:t>
            </a:r>
            <a:r>
              <a:rPr sz="1700" dirty="0"/>
              <a:t>HTML,</a:t>
            </a:r>
            <a:r>
              <a:rPr sz="1700" spc="-45" dirty="0"/>
              <a:t> </a:t>
            </a:r>
            <a:r>
              <a:rPr sz="1700" dirty="0"/>
              <a:t>CSS,</a:t>
            </a:r>
            <a:r>
              <a:rPr sz="1700" spc="-40" dirty="0"/>
              <a:t> </a:t>
            </a:r>
            <a:r>
              <a:rPr sz="1700" spc="-10" dirty="0"/>
              <a:t>JavaScript </a:t>
            </a:r>
            <a:r>
              <a:rPr sz="1700" b="1" spc="-10" dirty="0">
                <a:latin typeface="Cambria"/>
                <a:cs typeface="Cambria"/>
              </a:rPr>
              <a:t>Backend: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dirty="0"/>
              <a:t>Python</a:t>
            </a:r>
            <a:r>
              <a:rPr sz="1700" spc="-35" dirty="0"/>
              <a:t> </a:t>
            </a:r>
            <a:r>
              <a:rPr sz="1700" dirty="0"/>
              <a:t>(Flask</a:t>
            </a:r>
            <a:r>
              <a:rPr sz="1700" spc="-30" dirty="0"/>
              <a:t> </a:t>
            </a:r>
            <a:r>
              <a:rPr sz="1700" dirty="0"/>
              <a:t>/</a:t>
            </a:r>
            <a:r>
              <a:rPr sz="1700" spc="-35" dirty="0"/>
              <a:t> </a:t>
            </a:r>
            <a:r>
              <a:rPr sz="1700" dirty="0"/>
              <a:t>Django)</a:t>
            </a:r>
            <a:r>
              <a:rPr sz="1700" spc="-35" dirty="0"/>
              <a:t> </a:t>
            </a:r>
            <a:r>
              <a:rPr sz="1700" dirty="0"/>
              <a:t>or</a:t>
            </a:r>
            <a:r>
              <a:rPr sz="1700" spc="-30" dirty="0"/>
              <a:t> </a:t>
            </a:r>
            <a:r>
              <a:rPr sz="1700" spc="-10" dirty="0"/>
              <a:t>Node.js </a:t>
            </a:r>
            <a:r>
              <a:rPr sz="1700" b="1" spc="-10" dirty="0">
                <a:latin typeface="Cambria"/>
                <a:cs typeface="Cambria"/>
              </a:rPr>
              <a:t>Database: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spc="-10" dirty="0"/>
              <a:t>PostgreSQL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Cambria"/>
                <a:cs typeface="Cambria"/>
              </a:rPr>
              <a:t>AI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Analytics: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Python,</a:t>
            </a:r>
            <a:r>
              <a:rPr sz="1700" spc="-40" dirty="0"/>
              <a:t> </a:t>
            </a:r>
            <a:r>
              <a:rPr sz="1700" dirty="0"/>
              <a:t>Pandas,</a:t>
            </a:r>
            <a:r>
              <a:rPr sz="1700" spc="-40" dirty="0"/>
              <a:t> </a:t>
            </a:r>
            <a:r>
              <a:rPr sz="1700" spc="-20" dirty="0"/>
              <a:t>NumPy,</a:t>
            </a:r>
            <a:r>
              <a:rPr sz="1700" spc="-40" dirty="0"/>
              <a:t> </a:t>
            </a:r>
            <a:r>
              <a:rPr sz="1700" spc="-10" dirty="0"/>
              <a:t>Scikit-</a:t>
            </a:r>
            <a:r>
              <a:rPr sz="1700" dirty="0"/>
              <a:t>learn</a:t>
            </a:r>
            <a:r>
              <a:rPr sz="1700" spc="-45" dirty="0"/>
              <a:t> </a:t>
            </a:r>
            <a:r>
              <a:rPr sz="1700" dirty="0"/>
              <a:t>/</a:t>
            </a:r>
            <a:r>
              <a:rPr sz="1700" spc="-40" dirty="0"/>
              <a:t> </a:t>
            </a:r>
            <a:r>
              <a:rPr sz="1700" spc="-20" dirty="0"/>
              <a:t>LSTM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Cambria"/>
                <a:cs typeface="Cambria"/>
              </a:rPr>
              <a:t>ChartJS/MatplotLib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40" dirty="0"/>
              <a:t> </a:t>
            </a:r>
            <a:r>
              <a:rPr sz="1700" dirty="0"/>
              <a:t>Visualizes</a:t>
            </a:r>
            <a:r>
              <a:rPr sz="1700" spc="-40" dirty="0"/>
              <a:t> </a:t>
            </a:r>
            <a:r>
              <a:rPr sz="1700" dirty="0"/>
              <a:t>segregation</a:t>
            </a:r>
            <a:r>
              <a:rPr sz="1700" spc="-40" dirty="0"/>
              <a:t> </a:t>
            </a:r>
            <a:r>
              <a:rPr sz="1700" dirty="0"/>
              <a:t>performance,</a:t>
            </a:r>
            <a:r>
              <a:rPr sz="1700" spc="-40" dirty="0"/>
              <a:t> </a:t>
            </a:r>
            <a:r>
              <a:rPr sz="1700" dirty="0"/>
              <a:t>bin</a:t>
            </a:r>
            <a:r>
              <a:rPr sz="1700" spc="-40" dirty="0"/>
              <a:t> </a:t>
            </a:r>
            <a:r>
              <a:rPr sz="1700" dirty="0"/>
              <a:t>status,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0" dirty="0"/>
              <a:t> </a:t>
            </a:r>
            <a:r>
              <a:rPr sz="1700" spc="-15" dirty="0"/>
              <a:t>ward-</a:t>
            </a:r>
            <a:r>
              <a:rPr sz="1700" dirty="0"/>
              <a:t>wise</a:t>
            </a:r>
            <a:r>
              <a:rPr sz="1700" spc="-40" dirty="0"/>
              <a:t> </a:t>
            </a:r>
            <a:r>
              <a:rPr sz="1700" spc="-10" dirty="0"/>
              <a:t>trends.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700" b="1" dirty="0">
                <a:latin typeface="Cambria"/>
                <a:cs typeface="Cambria"/>
              </a:rPr>
              <a:t>Git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GitHub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35" dirty="0"/>
              <a:t> </a:t>
            </a:r>
            <a:r>
              <a:rPr sz="1700" dirty="0"/>
              <a:t>Used</a:t>
            </a:r>
            <a:r>
              <a:rPr sz="1700" spc="-35" dirty="0"/>
              <a:t> </a:t>
            </a:r>
            <a:r>
              <a:rPr sz="1700" dirty="0"/>
              <a:t>for</a:t>
            </a:r>
            <a:r>
              <a:rPr sz="1700" spc="-30" dirty="0"/>
              <a:t> </a:t>
            </a:r>
            <a:r>
              <a:rPr sz="1700" dirty="0"/>
              <a:t>source</a:t>
            </a:r>
            <a:r>
              <a:rPr sz="1700" spc="-35" dirty="0"/>
              <a:t> </a:t>
            </a:r>
            <a:r>
              <a:rPr sz="1700" dirty="0"/>
              <a:t>code</a:t>
            </a:r>
            <a:r>
              <a:rPr sz="1700" spc="-35" dirty="0"/>
              <a:t> </a:t>
            </a:r>
            <a:r>
              <a:rPr sz="1700" dirty="0"/>
              <a:t>management,</a:t>
            </a:r>
            <a:r>
              <a:rPr sz="1700" spc="-35" dirty="0"/>
              <a:t> </a:t>
            </a:r>
            <a:r>
              <a:rPr sz="1700" dirty="0"/>
              <a:t>version</a:t>
            </a:r>
            <a:r>
              <a:rPr sz="1700" spc="-35" dirty="0"/>
              <a:t> </a:t>
            </a:r>
            <a:r>
              <a:rPr sz="1700" dirty="0"/>
              <a:t>control,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0" dirty="0"/>
              <a:t> </a:t>
            </a:r>
            <a:r>
              <a:rPr sz="1700" dirty="0"/>
              <a:t>team</a:t>
            </a:r>
            <a:r>
              <a:rPr sz="1700" spc="-35" dirty="0"/>
              <a:t> </a:t>
            </a:r>
            <a:r>
              <a:rPr sz="1700" spc="-10" dirty="0"/>
              <a:t>collaboration.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Timeline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of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the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Project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76962" y="1120812"/>
          <a:ext cx="10904855" cy="57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Month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Phase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6619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1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Activities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Deliverables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73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Collection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Setup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30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Gather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requirements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from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stakeholders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(farmers/FPOs,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oil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mills, buyers/exporters)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159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Study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by-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products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flow: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soymeal,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cake,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husk,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bran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etc.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526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Collect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sample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dataset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(mandi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rates, historical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price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trends,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demand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1054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-Problem analysis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architecture diagram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-Database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schema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blueprint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8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module)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order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flow: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Smart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contract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-Functional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app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1454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Buyer–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seller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matching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transaction workflow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Smart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contract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v1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deployed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 testnet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Advanced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Features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module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Export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matchmaking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Add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 analytics dashboard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price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forecasting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graphs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Export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matchmaking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prototype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Admin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analytics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panel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521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Cambria"/>
                          <a:cs typeface="Cambria"/>
                        </a:rPr>
                        <a:t>Testing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Delivery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-End-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to-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end</a:t>
                      </a:r>
                      <a:r>
                        <a:rPr sz="12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testing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Security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testing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role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validation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9022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-Optimize performance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(queries, caching,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response)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-Prepare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documentation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assets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system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Project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report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PPT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GitHub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repository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Github</a:t>
            </a:r>
            <a:r>
              <a:rPr spc="-125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225" y="1157223"/>
            <a:ext cx="55416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mbria"/>
                <a:cs typeface="Cambria"/>
              </a:rPr>
              <a:t>A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public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GitHub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repository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will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maintained. </a:t>
            </a:r>
            <a:r>
              <a:rPr sz="2200" dirty="0">
                <a:latin typeface="Cambria"/>
                <a:cs typeface="Cambria"/>
              </a:rPr>
              <a:t>Link: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GitHub</a:t>
            </a:r>
            <a:r>
              <a:rPr sz="22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22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Link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130" dirty="0"/>
              <a:t> </a:t>
            </a:r>
            <a:r>
              <a:rPr dirty="0"/>
              <a:t>(IEEE</a:t>
            </a:r>
            <a:r>
              <a:rPr spc="-12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5490" indent="297180">
              <a:lnSpc>
                <a:spcPct val="114999"/>
              </a:lnSpc>
              <a:spcBef>
                <a:spcPts val="100"/>
              </a:spcBef>
              <a:buAutoNum type="arabicPlain"/>
              <a:tabLst>
                <a:tab pos="309880" algn="l"/>
              </a:tabLst>
            </a:pPr>
            <a:r>
              <a:rPr spc="-10" dirty="0"/>
              <a:t>Food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Agriculture</a:t>
            </a:r>
            <a:r>
              <a:rPr spc="-35" dirty="0"/>
              <a:t> </a:t>
            </a:r>
            <a:r>
              <a:rPr spc="-10" dirty="0"/>
              <a:t>Organization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United</a:t>
            </a:r>
            <a:r>
              <a:rPr spc="-40" dirty="0"/>
              <a:t> </a:t>
            </a:r>
            <a:r>
              <a:rPr spc="-10" dirty="0"/>
              <a:t>Nations</a:t>
            </a:r>
            <a:r>
              <a:rPr spc="-35" dirty="0"/>
              <a:t> </a:t>
            </a:r>
            <a:r>
              <a:rPr spc="-25" dirty="0"/>
              <a:t>(FAO),</a:t>
            </a:r>
            <a:r>
              <a:rPr spc="-35" dirty="0"/>
              <a:t> </a:t>
            </a:r>
            <a:r>
              <a:rPr spc="-55" dirty="0"/>
              <a:t>“FAOSTAT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10" dirty="0"/>
              <a:t>Food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agriculture</a:t>
            </a:r>
            <a:r>
              <a:rPr spc="-35" dirty="0"/>
              <a:t> </a:t>
            </a:r>
            <a:r>
              <a:rPr spc="-25" dirty="0"/>
              <a:t>data,”</a:t>
            </a:r>
            <a:r>
              <a:rPr spc="-40" dirty="0"/>
              <a:t> </a:t>
            </a:r>
            <a:r>
              <a:rPr spc="-10" dirty="0"/>
              <a:t>2024. </a:t>
            </a:r>
            <a:r>
              <a:rPr dirty="0"/>
              <a:t>[Online]. </a:t>
            </a:r>
            <a:r>
              <a:rPr spc="-20" dirty="0"/>
              <a:t>Available:</a:t>
            </a:r>
            <a:r>
              <a:rPr spc="15"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https://www.fao.org/faostat/</a:t>
            </a:r>
            <a:r>
              <a:rPr spc="-20" dirty="0"/>
              <a:t>.</a:t>
            </a:r>
            <a:r>
              <a:rPr spc="5" dirty="0"/>
              <a:t> </a:t>
            </a:r>
            <a:r>
              <a:rPr dirty="0"/>
              <a:t>[Accessed: Jan.</a:t>
            </a:r>
            <a:r>
              <a:rPr spc="5" dirty="0"/>
              <a:t> </a:t>
            </a:r>
            <a:r>
              <a:rPr dirty="0"/>
              <a:t>16,</a:t>
            </a:r>
            <a:r>
              <a:rPr spc="5" dirty="0"/>
              <a:t> </a:t>
            </a:r>
            <a:r>
              <a:rPr spc="-10" dirty="0"/>
              <a:t>2026].</a:t>
            </a:r>
          </a:p>
          <a:p>
            <a:pPr marL="12700" marR="38989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25" dirty="0"/>
              <a:t>World</a:t>
            </a:r>
            <a:r>
              <a:rPr spc="-40" dirty="0"/>
              <a:t> </a:t>
            </a:r>
            <a:r>
              <a:rPr dirty="0"/>
              <a:t>Bank,</a:t>
            </a:r>
            <a:r>
              <a:rPr spc="-30" dirty="0"/>
              <a:t> “Agriculture </a:t>
            </a:r>
            <a:r>
              <a:rPr dirty="0"/>
              <a:t>and</a:t>
            </a:r>
            <a:r>
              <a:rPr spc="-30" dirty="0"/>
              <a:t> </a:t>
            </a:r>
            <a:r>
              <a:rPr spc="-35" dirty="0"/>
              <a:t>Food,”</a:t>
            </a:r>
            <a:r>
              <a:rPr spc="-30" dirty="0"/>
              <a:t> </a:t>
            </a:r>
            <a:r>
              <a:rPr dirty="0"/>
              <a:t>2024.</a:t>
            </a:r>
            <a:r>
              <a:rPr spc="-30" dirty="0"/>
              <a:t> </a:t>
            </a:r>
            <a:r>
              <a:rPr dirty="0"/>
              <a:t>[Online].</a:t>
            </a:r>
            <a:r>
              <a:rPr spc="-30" dirty="0"/>
              <a:t> </a:t>
            </a:r>
            <a:r>
              <a:rPr spc="-20" dirty="0"/>
              <a:t>Available:</a:t>
            </a:r>
            <a:r>
              <a:rPr spc="-10" dirty="0"/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https://www.worldbank.org/en/topic/agriculture</a:t>
            </a:r>
            <a:r>
              <a:rPr spc="-10" dirty="0"/>
              <a:t>. </a:t>
            </a:r>
            <a:r>
              <a:rPr dirty="0"/>
              <a:t>[Accessed:</a:t>
            </a:r>
            <a:r>
              <a:rPr spc="-40" dirty="0"/>
              <a:t> </a:t>
            </a:r>
            <a:r>
              <a:rPr dirty="0"/>
              <a:t>Jan.</a:t>
            </a:r>
            <a:r>
              <a:rPr spc="-35" dirty="0"/>
              <a:t> </a:t>
            </a:r>
            <a:r>
              <a:rPr dirty="0"/>
              <a:t>16,</a:t>
            </a:r>
            <a:r>
              <a:rPr spc="-40" dirty="0"/>
              <a:t> </a:t>
            </a:r>
            <a:r>
              <a:rPr spc="-10" dirty="0"/>
              <a:t>2026].</a:t>
            </a:r>
          </a:p>
          <a:p>
            <a:pPr marL="12700" marR="7416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10" dirty="0"/>
              <a:t>Government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India,</a:t>
            </a:r>
            <a:r>
              <a:rPr spc="-30" dirty="0"/>
              <a:t> </a:t>
            </a:r>
            <a:r>
              <a:rPr spc="-10" dirty="0"/>
              <a:t>Ministry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Agriculture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20" dirty="0"/>
              <a:t>Farmers</a:t>
            </a:r>
            <a:r>
              <a:rPr spc="-25" dirty="0"/>
              <a:t> Welfare,</a:t>
            </a:r>
            <a:r>
              <a:rPr spc="-30" dirty="0"/>
              <a:t> </a:t>
            </a:r>
            <a:r>
              <a:rPr spc="-10" dirty="0"/>
              <a:t>“e-</a:t>
            </a:r>
            <a:r>
              <a:rPr dirty="0"/>
              <a:t>NAM:</a:t>
            </a:r>
            <a:r>
              <a:rPr spc="-25" dirty="0"/>
              <a:t> </a:t>
            </a:r>
            <a:r>
              <a:rPr spc="-10" dirty="0"/>
              <a:t>National</a:t>
            </a:r>
            <a:r>
              <a:rPr spc="-25" dirty="0"/>
              <a:t> </a:t>
            </a:r>
            <a:r>
              <a:rPr spc="-10" dirty="0"/>
              <a:t>Agriculture</a:t>
            </a:r>
            <a:r>
              <a:rPr spc="-30" dirty="0"/>
              <a:t> </a:t>
            </a:r>
            <a:r>
              <a:rPr spc="-20" dirty="0"/>
              <a:t>Market,”</a:t>
            </a:r>
            <a:r>
              <a:rPr spc="-25" dirty="0"/>
              <a:t> </a:t>
            </a:r>
            <a:r>
              <a:rPr spc="-10" dirty="0"/>
              <a:t>2024. </a:t>
            </a:r>
            <a:r>
              <a:rPr dirty="0"/>
              <a:t>[Online].</a:t>
            </a:r>
            <a:r>
              <a:rPr spc="-15" dirty="0"/>
              <a:t> </a:t>
            </a:r>
            <a:r>
              <a:rPr spc="-20" dirty="0"/>
              <a:t>Available:</a:t>
            </a:r>
            <a:r>
              <a:rPr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https://www.enam.gov.in/</a:t>
            </a:r>
            <a:r>
              <a:rPr spc="-20" dirty="0"/>
              <a:t>.</a:t>
            </a:r>
            <a:r>
              <a:rPr spc="-10" dirty="0"/>
              <a:t> </a:t>
            </a:r>
            <a:r>
              <a:rPr dirty="0"/>
              <a:t>[Accessed:</a:t>
            </a:r>
            <a:r>
              <a:rPr spc="-15" dirty="0"/>
              <a:t> </a:t>
            </a:r>
            <a:r>
              <a:rPr dirty="0"/>
              <a:t>Jan.</a:t>
            </a:r>
            <a:r>
              <a:rPr spc="-10" dirty="0"/>
              <a:t> </a:t>
            </a:r>
            <a:r>
              <a:rPr dirty="0"/>
              <a:t>16,</a:t>
            </a:r>
            <a:r>
              <a:rPr spc="-10" dirty="0"/>
              <a:t> 2026].</a:t>
            </a:r>
          </a:p>
          <a:p>
            <a:pPr marL="12700" marR="50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10" dirty="0"/>
              <a:t>Government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spc="-10" dirty="0"/>
              <a:t>Directorate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Marketing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dirty="0"/>
              <a:t>Inspection</a:t>
            </a:r>
            <a:r>
              <a:rPr spc="-40" dirty="0"/>
              <a:t> </a:t>
            </a:r>
            <a:r>
              <a:rPr dirty="0"/>
              <a:t>(DMI),</a:t>
            </a:r>
            <a:r>
              <a:rPr spc="-45" dirty="0"/>
              <a:t> </a:t>
            </a:r>
            <a:r>
              <a:rPr spc="-35" dirty="0"/>
              <a:t>“AGMARKNET:</a:t>
            </a:r>
            <a:r>
              <a:rPr spc="-40" dirty="0"/>
              <a:t> </a:t>
            </a:r>
            <a:r>
              <a:rPr spc="-10" dirty="0"/>
              <a:t>Agricultural</a:t>
            </a:r>
            <a:r>
              <a:rPr spc="-40" dirty="0"/>
              <a:t> </a:t>
            </a:r>
            <a:r>
              <a:rPr dirty="0"/>
              <a:t>Marketing</a:t>
            </a:r>
            <a:r>
              <a:rPr spc="-10" dirty="0"/>
              <a:t> Information </a:t>
            </a:r>
            <a:r>
              <a:rPr spc="-20" dirty="0"/>
              <a:t>Network,”</a:t>
            </a:r>
            <a:r>
              <a:rPr spc="-15" dirty="0"/>
              <a:t> </a:t>
            </a:r>
            <a:r>
              <a:rPr dirty="0"/>
              <a:t>2024.</a:t>
            </a:r>
            <a:r>
              <a:rPr spc="-15" dirty="0"/>
              <a:t> </a:t>
            </a:r>
            <a:r>
              <a:rPr dirty="0"/>
              <a:t>[Online].</a:t>
            </a:r>
            <a:r>
              <a:rPr spc="-10" dirty="0"/>
              <a:t> </a:t>
            </a:r>
            <a:r>
              <a:rPr spc="-20" dirty="0"/>
              <a:t>Available:</a:t>
            </a:r>
            <a:r>
              <a:rPr spc="-5"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https://agmarknet.gov.in/</a:t>
            </a:r>
            <a:r>
              <a:rPr spc="-20" dirty="0"/>
              <a:t>.</a:t>
            </a:r>
            <a:r>
              <a:rPr spc="-10" dirty="0"/>
              <a:t> </a:t>
            </a:r>
            <a:r>
              <a:rPr dirty="0"/>
              <a:t>[Accessed:</a:t>
            </a:r>
            <a:r>
              <a:rPr spc="-15" dirty="0"/>
              <a:t> </a:t>
            </a:r>
            <a:r>
              <a:rPr dirty="0"/>
              <a:t>Jan.</a:t>
            </a:r>
            <a:r>
              <a:rPr spc="-10" dirty="0"/>
              <a:t> </a:t>
            </a:r>
            <a:r>
              <a:rPr dirty="0"/>
              <a:t>16,</a:t>
            </a:r>
            <a:r>
              <a:rPr spc="-15" dirty="0"/>
              <a:t> </a:t>
            </a:r>
            <a:r>
              <a:rPr spc="-10" dirty="0"/>
              <a:t>2026].</a:t>
            </a:r>
          </a:p>
          <a:p>
            <a:pPr marL="12700" marR="8382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NCDEX</a:t>
            </a:r>
            <a:r>
              <a:rPr spc="-35" dirty="0"/>
              <a:t> </a:t>
            </a:r>
            <a:r>
              <a:rPr spc="-10" dirty="0"/>
              <a:t>(National</a:t>
            </a:r>
            <a:r>
              <a:rPr spc="-30" dirty="0"/>
              <a:t> </a:t>
            </a:r>
            <a:r>
              <a:rPr spc="-10" dirty="0"/>
              <a:t>Commodity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Derivatives</a:t>
            </a:r>
            <a:r>
              <a:rPr spc="-30" dirty="0"/>
              <a:t> </a:t>
            </a:r>
            <a:r>
              <a:rPr spc="-10" dirty="0"/>
              <a:t>Exchange),</a:t>
            </a:r>
            <a:r>
              <a:rPr spc="-30" dirty="0"/>
              <a:t> </a:t>
            </a:r>
            <a:r>
              <a:rPr spc="-10" dirty="0"/>
              <a:t>“Commodity</a:t>
            </a:r>
            <a:r>
              <a:rPr spc="-35" dirty="0"/>
              <a:t> </a:t>
            </a:r>
            <a:r>
              <a:rPr dirty="0"/>
              <a:t>Market</a:t>
            </a:r>
            <a:r>
              <a:rPr spc="-30" dirty="0"/>
              <a:t> </a:t>
            </a:r>
            <a:r>
              <a:rPr dirty="0"/>
              <a:t>Prices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Trading</a:t>
            </a:r>
            <a:r>
              <a:rPr spc="-30" dirty="0"/>
              <a:t> </a:t>
            </a:r>
            <a:r>
              <a:rPr spc="-25" dirty="0"/>
              <a:t>Information,”</a:t>
            </a:r>
            <a:r>
              <a:rPr spc="-30" dirty="0"/>
              <a:t> </a:t>
            </a:r>
            <a:r>
              <a:rPr spc="-10" dirty="0"/>
              <a:t>2024. </a:t>
            </a:r>
            <a:r>
              <a:rPr dirty="0"/>
              <a:t>[Online].</a:t>
            </a:r>
            <a:r>
              <a:rPr spc="-40" dirty="0"/>
              <a:t> </a:t>
            </a:r>
            <a:r>
              <a:rPr spc="-20" dirty="0"/>
              <a:t>Available:</a:t>
            </a:r>
            <a:r>
              <a:rPr spc="-25" dirty="0"/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https://www.ncdex.com/</a:t>
            </a:r>
            <a:r>
              <a:rPr spc="-10" dirty="0"/>
              <a:t>.</a:t>
            </a:r>
            <a:r>
              <a:rPr spc="-35" dirty="0"/>
              <a:t> </a:t>
            </a:r>
            <a:r>
              <a:rPr dirty="0"/>
              <a:t>[Accessed:</a:t>
            </a:r>
            <a:r>
              <a:rPr spc="-35" dirty="0"/>
              <a:t> </a:t>
            </a:r>
            <a:r>
              <a:rPr dirty="0"/>
              <a:t>Jan.</a:t>
            </a:r>
            <a:r>
              <a:rPr spc="-40" dirty="0"/>
              <a:t> </a:t>
            </a:r>
            <a:r>
              <a:rPr dirty="0"/>
              <a:t>16,</a:t>
            </a:r>
            <a:r>
              <a:rPr spc="-35" dirty="0"/>
              <a:t> </a:t>
            </a:r>
            <a:r>
              <a:rPr spc="-10" dirty="0"/>
              <a:t>2026].</a:t>
            </a:r>
          </a:p>
          <a:p>
            <a:pPr marL="12700" marR="485775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Open</a:t>
            </a:r>
            <a:r>
              <a:rPr spc="-40" dirty="0"/>
              <a:t> </a:t>
            </a:r>
            <a:r>
              <a:rPr spc="-10" dirty="0"/>
              <a:t>Government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(OGD)</a:t>
            </a:r>
            <a:r>
              <a:rPr spc="-40" dirty="0"/>
              <a:t> </a:t>
            </a:r>
            <a:r>
              <a:rPr spc="-10" dirty="0"/>
              <a:t>Platform</a:t>
            </a:r>
            <a:r>
              <a:rPr spc="-40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dirty="0"/>
              <a:t>“Open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25" dirty="0"/>
              <a:t>Portal,”</a:t>
            </a:r>
            <a:r>
              <a:rPr spc="-40" dirty="0"/>
              <a:t> </a:t>
            </a:r>
            <a:r>
              <a:rPr dirty="0"/>
              <a:t>2024.</a:t>
            </a:r>
            <a:r>
              <a:rPr spc="-40" dirty="0"/>
              <a:t> </a:t>
            </a:r>
            <a:r>
              <a:rPr dirty="0"/>
              <a:t>[Online].</a:t>
            </a:r>
            <a:r>
              <a:rPr spc="-40" dirty="0"/>
              <a:t> </a:t>
            </a:r>
            <a:r>
              <a:rPr spc="-20" dirty="0"/>
              <a:t>Available: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/>
              </a:rPr>
              <a:t>https://data.gov.in/</a:t>
            </a:r>
            <a:r>
              <a:rPr spc="-10" dirty="0"/>
              <a:t>. </a:t>
            </a:r>
            <a:r>
              <a:rPr dirty="0"/>
              <a:t>[Accessed:</a:t>
            </a:r>
            <a:r>
              <a:rPr spc="-40" dirty="0"/>
              <a:t> </a:t>
            </a:r>
            <a:r>
              <a:rPr dirty="0"/>
              <a:t>Jan.</a:t>
            </a:r>
            <a:r>
              <a:rPr spc="-35" dirty="0"/>
              <a:t> </a:t>
            </a:r>
            <a:r>
              <a:rPr dirty="0"/>
              <a:t>16,</a:t>
            </a:r>
            <a:r>
              <a:rPr spc="-40" dirty="0"/>
              <a:t> </a:t>
            </a:r>
            <a:r>
              <a:rPr spc="-10" dirty="0"/>
              <a:t>2026].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811" y="1441315"/>
            <a:ext cx="3893304" cy="3935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1587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Microsoft Sans Serif</vt:lpstr>
      <vt:lpstr>Verdana</vt:lpstr>
      <vt:lpstr>Office Theme</vt:lpstr>
      <vt:lpstr>Value Chain Integration System for Oilseed By-Products</vt:lpstr>
      <vt:lpstr>Problem Statement Number: 25275</vt:lpstr>
      <vt:lpstr>Content</vt:lpstr>
      <vt:lpstr>Problem Statement</vt:lpstr>
      <vt:lpstr>Objectives</vt:lpstr>
      <vt:lpstr>Background &amp; Related Work</vt:lpstr>
      <vt:lpstr>Analysis of Problem Statement</vt:lpstr>
      <vt:lpstr>Proposed Datasets</vt:lpstr>
      <vt:lpstr>Innovation / Novel Contribution</vt:lpstr>
      <vt:lpstr>Technology Stack</vt:lpstr>
      <vt:lpstr>Timeline of the Project</vt:lpstr>
      <vt:lpstr>Github Link</vt:lpstr>
      <vt:lpstr>References (IEEE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REVIEW_3</dc:title>
  <cp:lastModifiedBy>jyothika babu</cp:lastModifiedBy>
  <cp:revision>1</cp:revision>
  <dcterms:created xsi:type="dcterms:W3CDTF">2026-04-26T15:21:10Z</dcterms:created>
  <dcterms:modified xsi:type="dcterms:W3CDTF">2026-04-26T15:26:40Z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2026-04-26T00:00:00Z</vt:filetime>
  </property>
</Properties>
</file>